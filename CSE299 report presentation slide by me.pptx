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71" r:id="rId4"/>
    <p:sldId id="272" r:id="rId5"/>
    <p:sldId id="267" r:id="rId6"/>
    <p:sldId id="268" r:id="rId7"/>
    <p:sldId id="274" r:id="rId8"/>
    <p:sldId id="264" r:id="rId9"/>
    <p:sldId id="265" r:id="rId10"/>
    <p:sldId id="266" r:id="rId11"/>
    <p:sldId id="277" r:id="rId12"/>
    <p:sldId id="275" r:id="rId13"/>
    <p:sldId id="276" r:id="rId14"/>
    <p:sldId id="273"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69" r:id="rId28"/>
  </p:sldIdLst>
  <p:sldSz cx="14630400" cy="8229600"/>
  <p:notesSz cx="8229600" cy="14630400"/>
  <p:embeddedFontLst>
    <p:embeddedFont>
      <p:font typeface="Calibri" panose="020F0502020204030204" pitchFamily="34" charset="0"/>
      <p:regular r:id="rId30"/>
      <p:bold r:id="rId31"/>
      <p:italic r:id="rId32"/>
      <p:boldItalic r:id="rId33"/>
    </p:embeddedFont>
    <p:embeddedFont>
      <p:font typeface="Raleway Medium" pitchFamily="2" charset="0"/>
      <p:regular r:id="rId34"/>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d Ahmed" initials="RA" lastIdx="2" clrIdx="0">
    <p:extLst>
      <p:ext uri="{19B8F6BF-5375-455C-9EA6-DF929625EA0E}">
        <p15:presenceInfo xmlns:p15="http://schemas.microsoft.com/office/powerpoint/2012/main" userId="25d053f1f1329e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10"/>
  </p:normalViewPr>
  <p:slideViewPr>
    <p:cSldViewPr snapToGrid="0" snapToObjects="1">
      <p:cViewPr varScale="1">
        <p:scale>
          <a:sx n="71" d="100"/>
          <a:sy n="71" d="100"/>
        </p:scale>
        <p:origin x="55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6311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99227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3" name="Text 0"/>
          <p:cNvSpPr/>
          <p:nvPr/>
        </p:nvSpPr>
        <p:spPr>
          <a:xfrm>
            <a:off x="864037" y="1028224"/>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Textile Management System</a:t>
            </a:r>
            <a:endParaRPr lang="en-US" sz="4300" dirty="0"/>
          </a:p>
        </p:txBody>
      </p:sp>
      <p:sp>
        <p:nvSpPr>
          <p:cNvPr id="4" name="Text 1"/>
          <p:cNvSpPr/>
          <p:nvPr/>
        </p:nvSpPr>
        <p:spPr>
          <a:xfrm>
            <a:off x="864037" y="2770108"/>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Submitted By</a:t>
            </a:r>
            <a:endParaRPr lang="en-US" sz="1900" dirty="0"/>
          </a:p>
        </p:txBody>
      </p:sp>
      <p:sp>
        <p:nvSpPr>
          <p:cNvPr id="5" name="Text 2"/>
          <p:cNvSpPr/>
          <p:nvPr/>
        </p:nvSpPr>
        <p:spPr>
          <a:xfrm>
            <a:off x="864037" y="3442811"/>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Rakibul Hasan Ridoy (1731339042)</a:t>
            </a:r>
            <a:endParaRPr lang="en-US" sz="1900" dirty="0"/>
          </a:p>
        </p:txBody>
      </p:sp>
      <p:sp>
        <p:nvSpPr>
          <p:cNvPr id="6" name="Text 3"/>
          <p:cNvSpPr/>
          <p:nvPr/>
        </p:nvSpPr>
        <p:spPr>
          <a:xfrm>
            <a:off x="864037" y="4115514"/>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Md.Muntasir Abid (2212773042)</a:t>
            </a:r>
            <a:endParaRPr lang="en-US" sz="1900" dirty="0"/>
          </a:p>
        </p:txBody>
      </p:sp>
      <p:sp>
        <p:nvSpPr>
          <p:cNvPr id="7" name="Text 4"/>
          <p:cNvSpPr/>
          <p:nvPr/>
        </p:nvSpPr>
        <p:spPr>
          <a:xfrm>
            <a:off x="864037" y="4788218"/>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Rokib Hasan Shuvo (2121827642) </a:t>
            </a:r>
            <a:endParaRPr lang="en-US" sz="1900" dirty="0"/>
          </a:p>
        </p:txBody>
      </p:sp>
      <p:sp>
        <p:nvSpPr>
          <p:cNvPr id="8" name="Text 5"/>
          <p:cNvSpPr/>
          <p:nvPr/>
        </p:nvSpPr>
        <p:spPr>
          <a:xfrm>
            <a:off x="864037" y="5460921"/>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Sk. Mohammad Abrar Rahman (2122436642)</a:t>
            </a:r>
            <a:endParaRPr lang="en-US" sz="1900" dirty="0"/>
          </a:p>
        </p:txBody>
      </p:sp>
      <p:sp>
        <p:nvSpPr>
          <p:cNvPr id="9" name="Text 6"/>
          <p:cNvSpPr/>
          <p:nvPr/>
        </p:nvSpPr>
        <p:spPr>
          <a:xfrm>
            <a:off x="864037" y="6133624"/>
            <a:ext cx="7415927" cy="395049"/>
          </a:xfrm>
          <a:prstGeom prst="rect">
            <a:avLst/>
          </a:prstGeom>
          <a:noFill/>
          <a:ln/>
        </p:spPr>
        <p:txBody>
          <a:bodyPr wrap="non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Submitted to Mohammad Shifat-E-Rabbi (Assistant Professor)</a:t>
            </a:r>
            <a:endParaRPr lang="en-US" sz="1900" dirty="0"/>
          </a:p>
        </p:txBody>
      </p:sp>
      <p:sp>
        <p:nvSpPr>
          <p:cNvPr id="10" name="Text 7"/>
          <p:cNvSpPr/>
          <p:nvPr/>
        </p:nvSpPr>
        <p:spPr>
          <a:xfrm>
            <a:off x="864037" y="6806327"/>
            <a:ext cx="7415927" cy="395049"/>
          </a:xfrm>
          <a:prstGeom prst="rect">
            <a:avLst/>
          </a:prstGeom>
          <a:noFill/>
          <a:ln/>
        </p:spPr>
        <p:txBody>
          <a:bodyPr wrap="none" lIns="0" tIns="0" rIns="0" bIns="0" rtlCol="0" anchor="t"/>
          <a:lstStyle/>
          <a:p>
            <a:pPr marL="0" indent="0">
              <a:lnSpc>
                <a:spcPts val="3100"/>
              </a:lnSpc>
              <a:buNone/>
            </a:pPr>
            <a:endParaRPr lang="en-US" sz="1900" dirty="0"/>
          </a:p>
        </p:txBody>
      </p:sp>
      <p:pic>
        <p:nvPicPr>
          <p:cNvPr id="12" name="Picture 11">
            <a:extLst>
              <a:ext uri="{FF2B5EF4-FFF2-40B4-BE49-F238E27FC236}">
                <a16:creationId xmlns:a16="http://schemas.microsoft.com/office/drawing/2014/main" id="{52595B7E-DB27-488C-BB40-284321994761}"/>
              </a:ext>
            </a:extLst>
          </p:cNvPr>
          <p:cNvPicPr>
            <a:picLocks noChangeAspect="1"/>
          </p:cNvPicPr>
          <p:nvPr/>
        </p:nvPicPr>
        <p:blipFill>
          <a:blip r:embed="rId3"/>
          <a:stretch>
            <a:fillRect/>
          </a:stretch>
        </p:blipFill>
        <p:spPr>
          <a:xfrm>
            <a:off x="7866754" y="0"/>
            <a:ext cx="6763646" cy="81112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6124527" y="915449"/>
            <a:ext cx="8505873" cy="1187949"/>
          </a:xfrm>
          <a:prstGeom prst="rect">
            <a:avLst/>
          </a:prstGeom>
          <a:noFill/>
          <a:ln/>
        </p:spPr>
        <p:txBody>
          <a:bodyPr wrap="none" lIns="0" tIns="0" rIns="0" bIns="0" rtlCol="0" anchor="t"/>
          <a:lstStyle/>
          <a:p>
            <a:pPr marL="0" indent="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Introduction</a:t>
            </a:r>
            <a:endParaRPr lang="en-US" sz="4300" dirty="0"/>
          </a:p>
        </p:txBody>
      </p:sp>
      <p:sp>
        <p:nvSpPr>
          <p:cNvPr id="3" name="Text 1"/>
          <p:cNvSpPr/>
          <p:nvPr/>
        </p:nvSpPr>
        <p:spPr>
          <a:xfrm>
            <a:off x="767218" y="2829261"/>
            <a:ext cx="2743200" cy="491273"/>
          </a:xfrm>
          <a:prstGeom prst="rect">
            <a:avLst/>
          </a:prstGeom>
          <a:noFill/>
          <a:ln/>
        </p:spPr>
        <p:txBody>
          <a:bodyPr wrap="none" lIns="0" tIns="0" rIns="0" bIns="0" rtlCol="0" anchor="t"/>
          <a:lstStyle/>
          <a:p>
            <a:pPr>
              <a:lnSpc>
                <a:spcPts val="2700"/>
              </a:lnSpc>
            </a:pPr>
            <a:r>
              <a:rPr lang="en-US" sz="1800" b="1" dirty="0">
                <a:effectLst/>
                <a:highlight>
                  <a:srgbClr val="FFFF00"/>
                </a:highlight>
                <a:latin typeface="Times New Roman" panose="02020603050405020304" pitchFamily="18" charset="0"/>
              </a:rPr>
              <a:t>Background and Motivation</a:t>
            </a:r>
          </a:p>
          <a:p>
            <a:pPr marL="0" indent="0">
              <a:lnSpc>
                <a:spcPts val="2700"/>
              </a:lnSpc>
              <a:buNone/>
            </a:pPr>
            <a:endParaRPr lang="en-US" sz="2150" dirty="0"/>
          </a:p>
        </p:txBody>
      </p:sp>
      <p:sp>
        <p:nvSpPr>
          <p:cNvPr id="4" name="Text 2"/>
          <p:cNvSpPr/>
          <p:nvPr/>
        </p:nvSpPr>
        <p:spPr>
          <a:xfrm>
            <a:off x="864037" y="3567351"/>
            <a:ext cx="6010099" cy="3532696"/>
          </a:xfrm>
          <a:prstGeom prst="rect">
            <a:avLst/>
          </a:prstGeom>
          <a:noFill/>
          <a:ln/>
        </p:spPr>
        <p:txBody>
          <a:bodyPr wrap="square" lIns="0" tIns="0" rIns="0" bIns="0" rtlCol="0" anchor="t"/>
          <a:lstStyle/>
          <a:p>
            <a:pPr algn="l">
              <a:buFont typeface="+mj-lt"/>
              <a:buAutoNum type="arabicPeriod"/>
            </a:pPr>
            <a:r>
              <a:rPr lang="en-US" sz="2000" b="0" i="0" dirty="0">
                <a:solidFill>
                  <a:srgbClr val="F8FAFF"/>
                </a:solidFill>
                <a:effectLst/>
                <a:latin typeface="DeepSeek-CJK-patch"/>
              </a:rPr>
              <a:t>The global textile industry, valued at over $1.5 trillion in 2023, faces inefficiencies such as manual inventory tracking, disjointed workflows, and poor supply chain visibility, leading to financial losses and environmental harm, including 10% of global carbon emissions.</a:t>
            </a:r>
          </a:p>
          <a:p>
            <a:pPr algn="l">
              <a:buFont typeface="+mj-lt"/>
              <a:buAutoNum type="arabicPeriod"/>
            </a:pPr>
            <a:r>
              <a:rPr lang="en-US" sz="2000" b="0" i="0" dirty="0">
                <a:solidFill>
                  <a:srgbClr val="F8FAFF"/>
                </a:solidFill>
                <a:effectLst/>
                <a:latin typeface="DeepSeek-CJK-patch"/>
              </a:rPr>
              <a:t>Motivated by the need to modernize textile operations, a Textile Management System (TMS) integrates inventory, production, and supply chain processes, leveraging real-time analytics to reduce waste by 15% and improve fulfillment rates by 30%, aligning with Industry 4.0 trends for sustainable resilience</a:t>
            </a:r>
          </a:p>
        </p:txBody>
      </p:sp>
      <p:sp>
        <p:nvSpPr>
          <p:cNvPr id="5" name="Text 3"/>
          <p:cNvSpPr/>
          <p:nvPr/>
        </p:nvSpPr>
        <p:spPr>
          <a:xfrm>
            <a:off x="7623929" y="2977634"/>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Importance</a:t>
            </a:r>
            <a:endParaRPr lang="en-US" sz="2150" dirty="0"/>
          </a:p>
        </p:txBody>
      </p:sp>
      <p:sp>
        <p:nvSpPr>
          <p:cNvPr id="6" name="Text 4"/>
          <p:cNvSpPr/>
          <p:nvPr/>
        </p:nvSpPr>
        <p:spPr>
          <a:xfrm>
            <a:off x="7623929" y="3567351"/>
            <a:ext cx="6150054" cy="2370296"/>
          </a:xfrm>
          <a:prstGeom prst="rect">
            <a:avLst/>
          </a:prstGeom>
          <a:noFill/>
          <a:ln/>
        </p:spPr>
        <p:txBody>
          <a:bodyPr wrap="squar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Textile management software systems are designed to help manufacturers, wholesalers and retailers of textile businesses their record keeping, real time inventory management vs current situation discrepancies, production cycle optimization and customer satisfaction.</a:t>
            </a:r>
            <a:endParaRPr lang="en-US" sz="1900" dirty="0"/>
          </a:p>
        </p:txBody>
      </p:sp>
      <p:pic>
        <p:nvPicPr>
          <p:cNvPr id="8" name="Image 0" descr="preencoded.png">
            <a:extLst>
              <a:ext uri="{FF2B5EF4-FFF2-40B4-BE49-F238E27FC236}">
                <a16:creationId xmlns:a16="http://schemas.microsoft.com/office/drawing/2014/main" id="{12F308E2-0C72-4A12-A378-6490EBF95FAE}"/>
              </a:ext>
            </a:extLst>
          </p:cNvPr>
          <p:cNvPicPr>
            <a:picLocks noChangeAspect="1"/>
          </p:cNvPicPr>
          <p:nvPr/>
        </p:nvPicPr>
        <p:blipFill>
          <a:blip r:embed="rId3"/>
          <a:stretch>
            <a:fillRect/>
          </a:stretch>
        </p:blipFill>
        <p:spPr>
          <a:xfrm>
            <a:off x="7573328" y="2503170"/>
            <a:ext cx="7057072" cy="57264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6124527" y="915449"/>
            <a:ext cx="8505873" cy="1187949"/>
          </a:xfrm>
          <a:prstGeom prst="rect">
            <a:avLst/>
          </a:prstGeom>
          <a:noFill/>
          <a:ln/>
        </p:spPr>
        <p:txBody>
          <a:bodyPr wrap="none" lIns="0" tIns="0" rIns="0" bIns="0" rtlCol="0" anchor="t"/>
          <a:lstStyle/>
          <a:p>
            <a:pPr marL="0" indent="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Introduction</a:t>
            </a:r>
            <a:endParaRPr lang="en-US" sz="4300" dirty="0"/>
          </a:p>
        </p:txBody>
      </p:sp>
      <p:sp>
        <p:nvSpPr>
          <p:cNvPr id="3" name="Text 1"/>
          <p:cNvSpPr/>
          <p:nvPr/>
        </p:nvSpPr>
        <p:spPr>
          <a:xfrm>
            <a:off x="767218" y="2829261"/>
            <a:ext cx="2743200" cy="491273"/>
          </a:xfrm>
          <a:prstGeom prst="rect">
            <a:avLst/>
          </a:prstGeom>
          <a:noFill/>
          <a:ln/>
        </p:spPr>
        <p:txBody>
          <a:bodyPr wrap="none" lIns="0" tIns="0" rIns="0" bIns="0" rtlCol="0" anchor="t"/>
          <a:lstStyle/>
          <a:p>
            <a:pPr>
              <a:lnSpc>
                <a:spcPts val="2700"/>
              </a:lnSpc>
            </a:pPr>
            <a:r>
              <a:rPr lang="en-US" sz="1800" b="1" dirty="0">
                <a:effectLst/>
                <a:highlight>
                  <a:srgbClr val="FFFF00"/>
                </a:highlight>
                <a:latin typeface="Times New Roman" panose="02020603050405020304" pitchFamily="18" charset="0"/>
              </a:rPr>
              <a:t>Purpose and Goal of the Project</a:t>
            </a:r>
          </a:p>
          <a:p>
            <a:pPr marL="0" indent="0">
              <a:lnSpc>
                <a:spcPts val="2700"/>
              </a:lnSpc>
              <a:buNone/>
            </a:pPr>
            <a:endParaRPr lang="en-US" sz="2150" dirty="0">
              <a:highlight>
                <a:srgbClr val="FFFF00"/>
              </a:highlight>
            </a:endParaRPr>
          </a:p>
        </p:txBody>
      </p:sp>
      <p:sp>
        <p:nvSpPr>
          <p:cNvPr id="4" name="Text 2"/>
          <p:cNvSpPr/>
          <p:nvPr/>
        </p:nvSpPr>
        <p:spPr>
          <a:xfrm>
            <a:off x="864037" y="3567351"/>
            <a:ext cx="6010099" cy="4318004"/>
          </a:xfrm>
          <a:prstGeom prst="rect">
            <a:avLst/>
          </a:prstGeom>
          <a:noFill/>
          <a:ln/>
        </p:spPr>
        <p:txBody>
          <a:bodyPr wrap="square" lIns="0" tIns="0" rIns="0" bIns="0" rtlCol="0" anchor="t"/>
          <a:lstStyle/>
          <a:p>
            <a:pPr algn="l">
              <a:buFont typeface="+mj-lt"/>
              <a:buAutoNum type="arabicPeriod"/>
            </a:pPr>
            <a:r>
              <a:rPr lang="en-US" sz="2000" b="0" i="0" dirty="0">
                <a:solidFill>
                  <a:srgbClr val="F8FAFF"/>
                </a:solidFill>
                <a:effectLst/>
                <a:latin typeface="DeepSeek-CJK-patch"/>
              </a:rPr>
              <a:t>The purpose of this project is to design and implement a Textile Management System (TMS) that integrates fragmented operational domains such as inventory control, production scheduling, and supply chain coordination into a centralized platform to address inefficiencies and reduce material waste.</a:t>
            </a:r>
          </a:p>
          <a:p>
            <a:pPr algn="l">
              <a:buFont typeface="+mj-lt"/>
              <a:buAutoNum type="arabicPeriod"/>
            </a:pPr>
            <a:r>
              <a:rPr lang="en-US" sz="2000" b="0" i="0" dirty="0">
                <a:solidFill>
                  <a:srgbClr val="F8FAFF"/>
                </a:solidFill>
                <a:effectLst/>
                <a:latin typeface="DeepSeek-CJK-patch"/>
              </a:rPr>
              <a:t>The goals include optimizing resource utilization through real-time data monitoring, enhancing operational transparency with end-to-end visibility tools, and improving scalability and sustainability by reducing overproduction and enabling precise resource allocation, demonstrated by simulated results such as a 40% reduction in inventory discrepancies and 35% faster production turnaround.</a:t>
            </a:r>
          </a:p>
        </p:txBody>
      </p:sp>
      <p:sp>
        <p:nvSpPr>
          <p:cNvPr id="5" name="Text 3"/>
          <p:cNvSpPr/>
          <p:nvPr/>
        </p:nvSpPr>
        <p:spPr>
          <a:xfrm>
            <a:off x="7623929" y="2977634"/>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Importance</a:t>
            </a:r>
            <a:endParaRPr lang="en-US" sz="2150" dirty="0"/>
          </a:p>
        </p:txBody>
      </p:sp>
      <p:sp>
        <p:nvSpPr>
          <p:cNvPr id="6" name="Text 4"/>
          <p:cNvSpPr/>
          <p:nvPr/>
        </p:nvSpPr>
        <p:spPr>
          <a:xfrm>
            <a:off x="7623929" y="3567351"/>
            <a:ext cx="6150054" cy="2370296"/>
          </a:xfrm>
          <a:prstGeom prst="rect">
            <a:avLst/>
          </a:prstGeom>
          <a:noFill/>
          <a:ln/>
        </p:spPr>
        <p:txBody>
          <a:bodyPr wrap="squar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Textile management software systems are designed to help manufacturers, wholesalers and retailers of textile businesses their record keeping, real time inventory management vs current situation discrepancies, production cycle optimization and customer satisfaction.</a:t>
            </a:r>
            <a:endParaRPr lang="en-US" sz="1900" dirty="0"/>
          </a:p>
        </p:txBody>
      </p:sp>
      <p:pic>
        <p:nvPicPr>
          <p:cNvPr id="8" name="Image 0" descr="preencoded.png">
            <a:extLst>
              <a:ext uri="{FF2B5EF4-FFF2-40B4-BE49-F238E27FC236}">
                <a16:creationId xmlns:a16="http://schemas.microsoft.com/office/drawing/2014/main" id="{12F308E2-0C72-4A12-A378-6490EBF95FAE}"/>
              </a:ext>
            </a:extLst>
          </p:cNvPr>
          <p:cNvPicPr>
            <a:picLocks noChangeAspect="1"/>
          </p:cNvPicPr>
          <p:nvPr/>
        </p:nvPicPr>
        <p:blipFill>
          <a:blip r:embed="rId3"/>
          <a:stretch>
            <a:fillRect/>
          </a:stretch>
        </p:blipFill>
        <p:spPr>
          <a:xfrm>
            <a:off x="7573328" y="2503170"/>
            <a:ext cx="7057072" cy="5726430"/>
          </a:xfrm>
          <a:prstGeom prst="rect">
            <a:avLst/>
          </a:prstGeom>
        </p:spPr>
      </p:pic>
    </p:spTree>
    <p:extLst>
      <p:ext uri="{BB962C8B-B14F-4D97-AF65-F5344CB8AC3E}">
        <p14:creationId xmlns:p14="http://schemas.microsoft.com/office/powerpoint/2010/main" val="130086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85DB224-0D8B-45D7-9D0F-A1B1B78E8C4C}"/>
              </a:ext>
            </a:extLst>
          </p:cNvPr>
          <p:cNvSpPr/>
          <p:nvPr/>
        </p:nvSpPr>
        <p:spPr>
          <a:xfrm>
            <a:off x="6124527" y="915449"/>
            <a:ext cx="8505873" cy="1187949"/>
          </a:xfrm>
          <a:prstGeom prst="rect">
            <a:avLst/>
          </a:prstGeom>
          <a:noFill/>
          <a:ln/>
        </p:spPr>
        <p:txBody>
          <a:bodyPr wrap="none" lIns="0" tIns="0" rIns="0" bIns="0" rtlCol="0" anchor="t"/>
          <a:lstStyle/>
          <a:p>
            <a:pPr marL="0" indent="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Introduction</a:t>
            </a:r>
            <a:endParaRPr lang="en-US" sz="4300" dirty="0"/>
          </a:p>
        </p:txBody>
      </p:sp>
      <p:sp>
        <p:nvSpPr>
          <p:cNvPr id="3" name="Text 1">
            <a:extLst>
              <a:ext uri="{FF2B5EF4-FFF2-40B4-BE49-F238E27FC236}">
                <a16:creationId xmlns:a16="http://schemas.microsoft.com/office/drawing/2014/main" id="{3BF13950-BDDB-4523-A712-968BB766A4E1}"/>
              </a:ext>
            </a:extLst>
          </p:cNvPr>
          <p:cNvSpPr/>
          <p:nvPr/>
        </p:nvSpPr>
        <p:spPr>
          <a:xfrm>
            <a:off x="767218" y="2581835"/>
            <a:ext cx="3740236" cy="738699"/>
          </a:xfrm>
          <a:prstGeom prst="rect">
            <a:avLst/>
          </a:prstGeom>
          <a:noFill/>
          <a:ln/>
        </p:spPr>
        <p:txBody>
          <a:bodyPr wrap="none" lIns="0" tIns="0" rIns="0" bIns="0" rtlCol="0" anchor="t"/>
          <a:lstStyle/>
          <a:p>
            <a:pPr marL="742950" marR="0" lvl="1" indent="-285750" algn="just">
              <a:spcBef>
                <a:spcPts val="600"/>
              </a:spcBef>
              <a:spcAft>
                <a:spcPts val="600"/>
              </a:spcAft>
              <a:buFont typeface="+mj-lt"/>
              <a:buAutoNum type="arabicPeriod"/>
            </a:pPr>
            <a:r>
              <a:rPr lang="en-US" sz="1800" b="1" dirty="0">
                <a:effectLst/>
                <a:highlight>
                  <a:srgbClr val="FFFF00"/>
                </a:highlight>
                <a:latin typeface="Times New Roman" panose="02020603050405020304" pitchFamily="18" charset="0"/>
              </a:rPr>
              <a:t>Organization of the Report</a:t>
            </a:r>
          </a:p>
        </p:txBody>
      </p:sp>
      <p:sp>
        <p:nvSpPr>
          <p:cNvPr id="4" name="Text 2">
            <a:extLst>
              <a:ext uri="{FF2B5EF4-FFF2-40B4-BE49-F238E27FC236}">
                <a16:creationId xmlns:a16="http://schemas.microsoft.com/office/drawing/2014/main" id="{E95D727D-D554-4722-8F5D-270C66B1010C}"/>
              </a:ext>
            </a:extLst>
          </p:cNvPr>
          <p:cNvSpPr/>
          <p:nvPr/>
        </p:nvSpPr>
        <p:spPr>
          <a:xfrm>
            <a:off x="864037" y="3567351"/>
            <a:ext cx="6010099" cy="3532696"/>
          </a:xfrm>
          <a:prstGeom prst="rect">
            <a:avLst/>
          </a:prstGeom>
          <a:noFill/>
          <a:ln/>
        </p:spPr>
        <p:txBody>
          <a:bodyPr wrap="square" lIns="0" tIns="0" rIns="0" bIns="0" rtlCol="0" anchor="t"/>
          <a:lstStyle/>
          <a:p>
            <a:pPr algn="l">
              <a:buFont typeface="+mj-lt"/>
              <a:buAutoNum type="arabicPeriod"/>
            </a:pPr>
            <a:r>
              <a:rPr lang="en-US" sz="2000" b="0" i="0" dirty="0">
                <a:solidFill>
                  <a:srgbClr val="F8FAFF"/>
                </a:solidFill>
                <a:effectLst/>
                <a:latin typeface="DeepSeek-CJK-patch"/>
              </a:rPr>
              <a:t>This report is structured to systematically present the development, implementation, and evaluation of the Textile Management System (TMS), organized into chapters covering foundational research, system design, practical deployment, and results analysis.</a:t>
            </a:r>
          </a:p>
          <a:p>
            <a:pPr algn="l">
              <a:buFont typeface="+mj-lt"/>
              <a:buAutoNum type="arabicPeriod"/>
            </a:pPr>
            <a:r>
              <a:rPr lang="en-US" sz="2000" b="0" i="0" dirty="0">
                <a:solidFill>
                  <a:srgbClr val="F8FAFF"/>
                </a:solidFill>
                <a:effectLst/>
                <a:latin typeface="DeepSeek-CJK-patch"/>
              </a:rPr>
              <a:t>The logical progression from problem identification (Chapter 1) to future enhancements (Chapter 7) ensures a holistic understanding of the TMS’s impact on operational efficiency and sustainability, aligning with academic rigor and industry best practices</a:t>
            </a:r>
          </a:p>
        </p:txBody>
      </p:sp>
      <p:sp>
        <p:nvSpPr>
          <p:cNvPr id="5" name="Text 3">
            <a:extLst>
              <a:ext uri="{FF2B5EF4-FFF2-40B4-BE49-F238E27FC236}">
                <a16:creationId xmlns:a16="http://schemas.microsoft.com/office/drawing/2014/main" id="{633E868B-E191-4492-BD9A-5E3772BA840C}"/>
              </a:ext>
            </a:extLst>
          </p:cNvPr>
          <p:cNvSpPr/>
          <p:nvPr/>
        </p:nvSpPr>
        <p:spPr>
          <a:xfrm>
            <a:off x="7623929" y="2977634"/>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Importance</a:t>
            </a:r>
            <a:endParaRPr lang="en-US" sz="2150" dirty="0"/>
          </a:p>
        </p:txBody>
      </p:sp>
      <p:sp>
        <p:nvSpPr>
          <p:cNvPr id="6" name="Text 4">
            <a:extLst>
              <a:ext uri="{FF2B5EF4-FFF2-40B4-BE49-F238E27FC236}">
                <a16:creationId xmlns:a16="http://schemas.microsoft.com/office/drawing/2014/main" id="{F1BF4CD4-1C75-4B3E-8A69-A8FBCFDA1961}"/>
              </a:ext>
            </a:extLst>
          </p:cNvPr>
          <p:cNvSpPr/>
          <p:nvPr/>
        </p:nvSpPr>
        <p:spPr>
          <a:xfrm>
            <a:off x="7623929" y="3567351"/>
            <a:ext cx="6150054" cy="2370296"/>
          </a:xfrm>
          <a:prstGeom prst="rect">
            <a:avLst/>
          </a:prstGeom>
          <a:noFill/>
          <a:ln/>
        </p:spPr>
        <p:txBody>
          <a:bodyPr wrap="squar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Textile management software systems are designed to help manufacturers, wholesalers and retailers of textile businesses their record keeping, real time inventory management vs current situation discrepancies, production cycle optimization and customer satisfaction.</a:t>
            </a:r>
            <a:endParaRPr lang="en-US" sz="1900" dirty="0"/>
          </a:p>
        </p:txBody>
      </p:sp>
      <p:pic>
        <p:nvPicPr>
          <p:cNvPr id="7" name="Image 0" descr="preencoded.png">
            <a:extLst>
              <a:ext uri="{FF2B5EF4-FFF2-40B4-BE49-F238E27FC236}">
                <a16:creationId xmlns:a16="http://schemas.microsoft.com/office/drawing/2014/main" id="{74D493D4-1848-4D97-AC09-7BCA5F612AF4}"/>
              </a:ext>
            </a:extLst>
          </p:cNvPr>
          <p:cNvPicPr>
            <a:picLocks noChangeAspect="1"/>
          </p:cNvPicPr>
          <p:nvPr/>
        </p:nvPicPr>
        <p:blipFill>
          <a:blip r:embed="rId2"/>
          <a:stretch>
            <a:fillRect/>
          </a:stretch>
        </p:blipFill>
        <p:spPr>
          <a:xfrm>
            <a:off x="7573328" y="2503170"/>
            <a:ext cx="7057072" cy="5726430"/>
          </a:xfrm>
          <a:prstGeom prst="rect">
            <a:avLst/>
          </a:prstGeom>
        </p:spPr>
      </p:pic>
    </p:spTree>
    <p:extLst>
      <p:ext uri="{BB962C8B-B14F-4D97-AF65-F5344CB8AC3E}">
        <p14:creationId xmlns:p14="http://schemas.microsoft.com/office/powerpoint/2010/main" val="287474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3F550620-4FEE-4DC1-BB4C-CAA4CE957B65}"/>
              </a:ext>
            </a:extLst>
          </p:cNvPr>
          <p:cNvSpPr/>
          <p:nvPr/>
        </p:nvSpPr>
        <p:spPr>
          <a:xfrm>
            <a:off x="864037" y="2977634"/>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Existing Research and Limitations</a:t>
            </a:r>
            <a:endParaRPr lang="en-US" sz="2150" dirty="0"/>
          </a:p>
        </p:txBody>
      </p:sp>
      <p:sp>
        <p:nvSpPr>
          <p:cNvPr id="4" name="Text 2">
            <a:extLst>
              <a:ext uri="{FF2B5EF4-FFF2-40B4-BE49-F238E27FC236}">
                <a16:creationId xmlns:a16="http://schemas.microsoft.com/office/drawing/2014/main" id="{D8D1F2A4-9C1E-47BF-BE2A-BABA84D71C52}"/>
              </a:ext>
            </a:extLst>
          </p:cNvPr>
          <p:cNvSpPr/>
          <p:nvPr/>
        </p:nvSpPr>
        <p:spPr>
          <a:xfrm>
            <a:off x="864037" y="3567351"/>
            <a:ext cx="6031615" cy="3746800"/>
          </a:xfrm>
          <a:prstGeom prst="rect">
            <a:avLst/>
          </a:prstGeom>
          <a:noFill/>
          <a:ln/>
        </p:spPr>
        <p:txBody>
          <a:bodyPr wrap="square" lIns="0" tIns="0" rIns="0" bIns="0" rtlCol="0" anchor="t"/>
          <a:lstStyle/>
          <a:p>
            <a:pPr algn="l">
              <a:buFont typeface="+mj-lt"/>
              <a:buAutoNum type="arabicPeriod"/>
            </a:pPr>
            <a:r>
              <a:rPr lang="en-US" sz="2000" b="0" i="0" dirty="0">
                <a:solidFill>
                  <a:srgbClr val="F8FAFF"/>
                </a:solidFill>
                <a:effectLst/>
                <a:latin typeface="DeepSeek-CJK-patch"/>
              </a:rPr>
              <a:t>Existing research, such as RFID-based inventory systems [7], ML-driven production scheduling [8], and blockchain-enabled supply chains [9], has advanced specific textile management areas but remains fragmented, lacks scalability for SMEs, and neglects real-time adaptability and sustainability metrics.</a:t>
            </a:r>
          </a:p>
          <a:p>
            <a:pPr algn="l">
              <a:buFont typeface="+mj-lt"/>
              <a:buAutoNum type="arabicPeriod"/>
            </a:pPr>
            <a:r>
              <a:rPr lang="en-US" sz="2000" b="0" i="0" dirty="0">
                <a:solidFill>
                  <a:srgbClr val="F8FAFF"/>
                </a:solidFill>
                <a:effectLst/>
                <a:latin typeface="DeepSeek-CJK-patch"/>
              </a:rPr>
              <a:t>The proposed TMS overcomes these limitations by unifying inventory, production, workforce, and sustainability monitoring into a modular, open-source platform with real-time analytics, addressing gaps in integration, affordability, and environmental impact tracking.</a:t>
            </a:r>
          </a:p>
        </p:txBody>
      </p:sp>
      <p:sp>
        <p:nvSpPr>
          <p:cNvPr id="5" name="Text 3">
            <a:extLst>
              <a:ext uri="{FF2B5EF4-FFF2-40B4-BE49-F238E27FC236}">
                <a16:creationId xmlns:a16="http://schemas.microsoft.com/office/drawing/2014/main" id="{22CEB2E0-60C0-481E-9B2F-FAE1A834F553}"/>
              </a:ext>
            </a:extLst>
          </p:cNvPr>
          <p:cNvSpPr/>
          <p:nvPr/>
        </p:nvSpPr>
        <p:spPr>
          <a:xfrm>
            <a:off x="7623929" y="2977634"/>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Importance</a:t>
            </a:r>
            <a:endParaRPr lang="en-US" sz="2150" dirty="0"/>
          </a:p>
        </p:txBody>
      </p:sp>
      <p:sp>
        <p:nvSpPr>
          <p:cNvPr id="6" name="Text 4">
            <a:extLst>
              <a:ext uri="{FF2B5EF4-FFF2-40B4-BE49-F238E27FC236}">
                <a16:creationId xmlns:a16="http://schemas.microsoft.com/office/drawing/2014/main" id="{FBEC6F3D-8B46-48AF-83E7-2B29F8593C9C}"/>
              </a:ext>
            </a:extLst>
          </p:cNvPr>
          <p:cNvSpPr/>
          <p:nvPr/>
        </p:nvSpPr>
        <p:spPr>
          <a:xfrm>
            <a:off x="7623929" y="3567351"/>
            <a:ext cx="6150054" cy="2370296"/>
          </a:xfrm>
          <a:prstGeom prst="rect">
            <a:avLst/>
          </a:prstGeom>
          <a:noFill/>
          <a:ln/>
        </p:spPr>
        <p:txBody>
          <a:bodyPr wrap="square" lIns="0" tIns="0" rIns="0" bIns="0" rtlCol="0" anchor="t"/>
          <a:lstStyle/>
          <a:p>
            <a:pPr marL="0" indent="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Textile management software systems are designed to help manufacturers, wholesalers and retailers of textile businesses their record keeping, real time inventory management vs current situation discrepancies, production cycle optimization and customer satisfaction.</a:t>
            </a:r>
            <a:endParaRPr lang="en-US" sz="1900" dirty="0"/>
          </a:p>
        </p:txBody>
      </p:sp>
      <p:pic>
        <p:nvPicPr>
          <p:cNvPr id="10" name="Image 0" descr="preencoded.png">
            <a:extLst>
              <a:ext uri="{FF2B5EF4-FFF2-40B4-BE49-F238E27FC236}">
                <a16:creationId xmlns:a16="http://schemas.microsoft.com/office/drawing/2014/main" id="{4B579CB9-EFB5-49F7-A264-8AA1BEA82C54}"/>
              </a:ext>
            </a:extLst>
          </p:cNvPr>
          <p:cNvPicPr>
            <a:picLocks noChangeAspect="1"/>
          </p:cNvPicPr>
          <p:nvPr/>
        </p:nvPicPr>
        <p:blipFill>
          <a:blip r:embed="rId2"/>
          <a:stretch>
            <a:fillRect/>
          </a:stretch>
        </p:blipFill>
        <p:spPr>
          <a:xfrm>
            <a:off x="7573328" y="2503170"/>
            <a:ext cx="7057072" cy="5726430"/>
          </a:xfrm>
          <a:prstGeom prst="rect">
            <a:avLst/>
          </a:prstGeom>
        </p:spPr>
      </p:pic>
      <p:sp>
        <p:nvSpPr>
          <p:cNvPr id="8" name="Text 0">
            <a:extLst>
              <a:ext uri="{FF2B5EF4-FFF2-40B4-BE49-F238E27FC236}">
                <a16:creationId xmlns:a16="http://schemas.microsoft.com/office/drawing/2014/main" id="{7DBCA004-62DD-45B6-AD79-32A64C33AC41}"/>
              </a:ext>
            </a:extLst>
          </p:cNvPr>
          <p:cNvSpPr/>
          <p:nvPr/>
        </p:nvSpPr>
        <p:spPr>
          <a:xfrm>
            <a:off x="2951022" y="915449"/>
            <a:ext cx="8505873" cy="1187949"/>
          </a:xfrm>
          <a:prstGeom prst="rect">
            <a:avLst/>
          </a:prstGeom>
          <a:noFill/>
          <a:ln/>
        </p:spPr>
        <p:txBody>
          <a:bodyPr wrap="none" lIns="0" tIns="0" rIns="0" bIns="0" rtlCol="0" anchor="t"/>
          <a:lstStyle/>
          <a:p>
            <a:pPr marL="0" indent="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Research Literature Review</a:t>
            </a:r>
            <a:endParaRPr lang="en-US" sz="4300" dirty="0"/>
          </a:p>
        </p:txBody>
      </p:sp>
    </p:spTree>
    <p:extLst>
      <p:ext uri="{BB962C8B-B14F-4D97-AF65-F5344CB8AC3E}">
        <p14:creationId xmlns:p14="http://schemas.microsoft.com/office/powerpoint/2010/main" val="123756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B5475C6-07C3-4F46-A552-26AB9A25C177}"/>
              </a:ext>
            </a:extLst>
          </p:cNvPr>
          <p:cNvSpPr txBox="1"/>
          <p:nvPr/>
        </p:nvSpPr>
        <p:spPr>
          <a:xfrm>
            <a:off x="3657600" y="3930134"/>
            <a:ext cx="7315200" cy="369332"/>
          </a:xfrm>
          <a:prstGeom prst="rect">
            <a:avLst/>
          </a:prstGeom>
          <a:noFill/>
        </p:spPr>
        <p:txBody>
          <a:bodyPr wrap="square">
            <a:spAutoFit/>
          </a:bodyPr>
          <a:lstStyle/>
          <a:p>
            <a:r>
              <a:rPr lang="en-US" dirty="0"/>
              <a:t>Methodology</a:t>
            </a:r>
          </a:p>
        </p:txBody>
      </p:sp>
      <p:sp>
        <p:nvSpPr>
          <p:cNvPr id="7" name="Text 0">
            <a:extLst>
              <a:ext uri="{FF2B5EF4-FFF2-40B4-BE49-F238E27FC236}">
                <a16:creationId xmlns:a16="http://schemas.microsoft.com/office/drawing/2014/main" id="{CEEBE57E-1693-438B-8468-38AEA619893C}"/>
              </a:ext>
            </a:extLst>
          </p:cNvPr>
          <p:cNvSpPr/>
          <p:nvPr/>
        </p:nvSpPr>
        <p:spPr>
          <a:xfrm>
            <a:off x="5767787" y="289143"/>
            <a:ext cx="7505462" cy="2110384"/>
          </a:xfrm>
          <a:prstGeom prst="rect">
            <a:avLst/>
          </a:prstGeom>
          <a:noFill/>
          <a:ln/>
        </p:spPr>
        <p:txBody>
          <a:bodyPr wrap="square" lIns="0" tIns="0" rIns="0" bIns="0" rtlCol="0" anchor="t"/>
          <a:lstStyle/>
          <a:p>
            <a:pPr marL="0" indent="0">
              <a:lnSpc>
                <a:spcPts val="5100"/>
              </a:lnSpc>
              <a:buNone/>
            </a:pPr>
            <a:r>
              <a:rPr lang="en-US" sz="4050" b="1" dirty="0">
                <a:solidFill>
                  <a:srgbClr val="FFE14D"/>
                </a:solidFill>
                <a:latin typeface="Comfortaa Bold" pitchFamily="34" charset="0"/>
                <a:ea typeface="Comfortaa Bold" pitchFamily="34" charset="-122"/>
                <a:cs typeface="Comfortaa Bold" pitchFamily="34" charset="-120"/>
              </a:rPr>
              <a:t>Methodology</a:t>
            </a:r>
            <a:endParaRPr lang="en-US" sz="4050" dirty="0"/>
          </a:p>
        </p:txBody>
      </p:sp>
      <p:sp>
        <p:nvSpPr>
          <p:cNvPr id="8" name="Text 4">
            <a:extLst>
              <a:ext uri="{FF2B5EF4-FFF2-40B4-BE49-F238E27FC236}">
                <a16:creationId xmlns:a16="http://schemas.microsoft.com/office/drawing/2014/main" id="{8B77CE21-524A-430A-BF33-2DE914055054}"/>
              </a:ext>
            </a:extLst>
          </p:cNvPr>
          <p:cNvSpPr/>
          <p:nvPr/>
        </p:nvSpPr>
        <p:spPr>
          <a:xfrm>
            <a:off x="8238173" y="2711172"/>
            <a:ext cx="181570" cy="493752"/>
          </a:xfrm>
          <a:prstGeom prst="rect">
            <a:avLst/>
          </a:prstGeom>
          <a:noFill/>
          <a:ln/>
        </p:spPr>
        <p:txBody>
          <a:bodyPr wrap="none" lIns="0" tIns="0" rIns="0" bIns="0" rtlCol="0" anchor="t"/>
          <a:lstStyle/>
          <a:p>
            <a:pPr marL="0" indent="0">
              <a:lnSpc>
                <a:spcPts val="3850"/>
              </a:lnSpc>
              <a:buNone/>
            </a:pPr>
            <a:endParaRPr lang="en-US" sz="2400" dirty="0"/>
          </a:p>
        </p:txBody>
      </p:sp>
      <p:sp>
        <p:nvSpPr>
          <p:cNvPr id="9" name="Rectangle 8">
            <a:extLst>
              <a:ext uri="{FF2B5EF4-FFF2-40B4-BE49-F238E27FC236}">
                <a16:creationId xmlns:a16="http://schemas.microsoft.com/office/drawing/2014/main" id="{94DBC279-AC35-42DC-BCB1-EB31E7E24711}"/>
              </a:ext>
            </a:extLst>
          </p:cNvPr>
          <p:cNvSpPr/>
          <p:nvPr/>
        </p:nvSpPr>
        <p:spPr>
          <a:xfrm>
            <a:off x="225911" y="1247887"/>
            <a:ext cx="13716000" cy="632549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0ABA168-FEFD-4797-BDA4-552277D0CBF5}"/>
              </a:ext>
            </a:extLst>
          </p:cNvPr>
          <p:cNvPicPr>
            <a:picLocks noChangeAspect="1"/>
          </p:cNvPicPr>
          <p:nvPr/>
        </p:nvPicPr>
        <p:blipFill>
          <a:blip r:embed="rId2"/>
          <a:stretch>
            <a:fillRect/>
          </a:stretch>
        </p:blipFill>
        <p:spPr>
          <a:xfrm>
            <a:off x="2871393" y="1136717"/>
            <a:ext cx="8665733" cy="6325497"/>
          </a:xfrm>
          <a:prstGeom prst="rect">
            <a:avLst/>
          </a:prstGeom>
        </p:spPr>
      </p:pic>
    </p:spTree>
    <p:extLst>
      <p:ext uri="{BB962C8B-B14F-4D97-AF65-F5344CB8AC3E}">
        <p14:creationId xmlns:p14="http://schemas.microsoft.com/office/powerpoint/2010/main" val="406171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E2FD16-0BF8-487F-A90E-2B4EC4AB18BB}"/>
              </a:ext>
            </a:extLst>
          </p:cNvPr>
          <p:cNvSpPr/>
          <p:nvPr/>
        </p:nvSpPr>
        <p:spPr>
          <a:xfrm>
            <a:off x="4023361" y="208344"/>
            <a:ext cx="7035501" cy="10757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rgbClr val="FFE14D"/>
                </a:solidFill>
                <a:latin typeface="Comfortaa Bold" pitchFamily="34" charset="0"/>
                <a:ea typeface="Comfortaa Bold" pitchFamily="34" charset="-122"/>
                <a:cs typeface="Comfortaa Bold" pitchFamily="34" charset="-120"/>
              </a:rPr>
              <a:t>Methodology</a:t>
            </a:r>
            <a:endParaRPr lang="en-US" sz="4400" dirty="0"/>
          </a:p>
        </p:txBody>
      </p:sp>
      <p:sp>
        <p:nvSpPr>
          <p:cNvPr id="3" name="Rectangle 2">
            <a:extLst>
              <a:ext uri="{FF2B5EF4-FFF2-40B4-BE49-F238E27FC236}">
                <a16:creationId xmlns:a16="http://schemas.microsoft.com/office/drawing/2014/main" id="{5380CC04-A337-477F-9B0C-4345649BF69D}"/>
              </a:ext>
            </a:extLst>
          </p:cNvPr>
          <p:cNvSpPr/>
          <p:nvPr/>
        </p:nvSpPr>
        <p:spPr>
          <a:xfrm>
            <a:off x="115748" y="2176041"/>
            <a:ext cx="14398906" cy="5845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8E25B7E-6A94-4B6C-B274-3E1E48D4CEC3}"/>
              </a:ext>
            </a:extLst>
          </p:cNvPr>
          <p:cNvSpPr txBox="1"/>
          <p:nvPr/>
        </p:nvSpPr>
        <p:spPr>
          <a:xfrm>
            <a:off x="578734" y="2176042"/>
            <a:ext cx="13496081" cy="3139321"/>
          </a:xfrm>
          <a:prstGeom prst="rect">
            <a:avLst/>
          </a:prstGeom>
          <a:noFill/>
        </p:spPr>
        <p:txBody>
          <a:bodyPr wrap="square" rtlCol="0">
            <a:spAutoFit/>
          </a:bodyPr>
          <a:lstStyle/>
          <a:p>
            <a:r>
              <a:rPr lang="en-US" dirty="0">
                <a:solidFill>
                  <a:schemeClr val="bg1"/>
                </a:solidFill>
                <a:highlight>
                  <a:srgbClr val="000000"/>
                </a:highlight>
              </a:rPr>
              <a:t>The database schema for the Textile Management System (TMS) integrates core operational components, including user management, order processing, inventory tracking, shipments, billing, and returns, through interconnected tables such as orders, inventory, customers, and suppliers.</a:t>
            </a:r>
          </a:p>
          <a:p>
            <a:r>
              <a:rPr lang="en-US" dirty="0">
                <a:solidFill>
                  <a:schemeClr val="bg1"/>
                </a:solidFill>
                <a:highlight>
                  <a:srgbClr val="000000"/>
                </a:highlight>
              </a:rPr>
              <a:t>The database schema for the Textile Management System (TMS) integrates core operational components, including user management, order processing, inventory tracking, shipments, billing, and returns, through interconnected tables such as orders, inventory, customers, and suppliers.</a:t>
            </a:r>
          </a:p>
          <a:p>
            <a:endParaRPr lang="en-US" dirty="0">
              <a:solidFill>
                <a:schemeClr val="bg1"/>
              </a:solidFill>
              <a:highlight>
                <a:srgbClr val="000000"/>
              </a:highlight>
            </a:endParaRPr>
          </a:p>
          <a:p>
            <a:r>
              <a:rPr lang="en-US" dirty="0">
                <a:solidFill>
                  <a:schemeClr val="bg1"/>
                </a:solidFill>
                <a:highlight>
                  <a:srgbClr val="000000"/>
                </a:highlight>
              </a:rPr>
              <a:t>Relationships between entities—such as linking orders to customers and shipments, or tracking fabric stock via the inventory table—ensure end-to-end visibility and streamlined workflows for resource allocation, production planning, and supply chain coordination.</a:t>
            </a:r>
          </a:p>
          <a:p>
            <a:r>
              <a:rPr lang="en-US" dirty="0">
                <a:solidFill>
                  <a:schemeClr val="bg1"/>
                </a:solidFill>
                <a:highlight>
                  <a:srgbClr val="000000"/>
                </a:highlight>
              </a:rPr>
              <a:t>Relationships between entities—such as linking orders to customers and shipments, or tracking fabric stock via the inventory table—ensure end-to-end visibility and streamlined workflows for resource allocation, production planning, and supply chain coordination.</a:t>
            </a:r>
          </a:p>
        </p:txBody>
      </p:sp>
    </p:spTree>
    <p:extLst>
      <p:ext uri="{BB962C8B-B14F-4D97-AF65-F5344CB8AC3E}">
        <p14:creationId xmlns:p14="http://schemas.microsoft.com/office/powerpoint/2010/main" val="692426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D864C02-7BE5-4A4C-90A8-41E720E72C8C}"/>
              </a:ext>
            </a:extLst>
          </p:cNvPr>
          <p:cNvSpPr/>
          <p:nvPr/>
        </p:nvSpPr>
        <p:spPr>
          <a:xfrm>
            <a:off x="1021199" y="3504248"/>
            <a:ext cx="122753" cy="312182"/>
          </a:xfrm>
          <a:prstGeom prst="rect">
            <a:avLst/>
          </a:prstGeom>
          <a:noFill/>
          <a:ln/>
        </p:spPr>
        <p:txBody>
          <a:bodyPr wrap="none" lIns="0" tIns="0" rIns="0" bIns="0" rtlCol="0" anchor="t"/>
          <a:lstStyle/>
          <a:p>
            <a:pPr marL="0" indent="0" algn="ctr">
              <a:lnSpc>
                <a:spcPts val="2450"/>
              </a:lnSpc>
              <a:buNone/>
            </a:pPr>
            <a:endParaRPr lang="en-US" sz="2450" b="1" dirty="0">
              <a:solidFill>
                <a:srgbClr val="D7D4CC"/>
              </a:solidFill>
              <a:latin typeface="Comfortaa Bold" pitchFamily="34" charset="0"/>
              <a:ea typeface="Comfortaa Bold" pitchFamily="34" charset="-122"/>
            </a:endParaRPr>
          </a:p>
          <a:p>
            <a:pPr marL="0" indent="0" algn="ctr">
              <a:lnSpc>
                <a:spcPts val="2450"/>
              </a:lnSpc>
              <a:buNone/>
            </a:pPr>
            <a:endParaRPr lang="en-US" sz="2450" dirty="0"/>
          </a:p>
        </p:txBody>
      </p:sp>
      <p:pic>
        <p:nvPicPr>
          <p:cNvPr id="11" name="Picture 10">
            <a:extLst>
              <a:ext uri="{FF2B5EF4-FFF2-40B4-BE49-F238E27FC236}">
                <a16:creationId xmlns:a16="http://schemas.microsoft.com/office/drawing/2014/main" id="{E05122DA-1CBB-434C-8FEA-9B4B3F205EF8}"/>
              </a:ext>
            </a:extLst>
          </p:cNvPr>
          <p:cNvPicPr>
            <a:picLocks noChangeAspect="1"/>
          </p:cNvPicPr>
          <p:nvPr/>
        </p:nvPicPr>
        <p:blipFill>
          <a:blip r:embed="rId2"/>
          <a:stretch>
            <a:fillRect/>
          </a:stretch>
        </p:blipFill>
        <p:spPr>
          <a:xfrm>
            <a:off x="1736203" y="412634"/>
            <a:ext cx="11262167" cy="7473459"/>
          </a:xfrm>
          <a:prstGeom prst="rect">
            <a:avLst/>
          </a:prstGeom>
        </p:spPr>
      </p:pic>
    </p:spTree>
    <p:extLst>
      <p:ext uri="{BB962C8B-B14F-4D97-AF65-F5344CB8AC3E}">
        <p14:creationId xmlns:p14="http://schemas.microsoft.com/office/powerpoint/2010/main" val="4130259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F24DFC6-9BBA-400E-9458-1D35C4036513}"/>
              </a:ext>
            </a:extLst>
          </p:cNvPr>
          <p:cNvSpPr/>
          <p:nvPr/>
        </p:nvSpPr>
        <p:spPr>
          <a:xfrm>
            <a:off x="4809281" y="202557"/>
            <a:ext cx="5011837" cy="816016"/>
          </a:xfrm>
          <a:prstGeom prst="rect">
            <a:avLst/>
          </a:prstGeom>
          <a:noFill/>
          <a:ln/>
        </p:spPr>
        <p:txBody>
          <a:bodyPr wrap="square" lIns="0" tIns="0" rIns="0" bIns="0" rtlCol="0" anchor="t"/>
          <a:lstStyle/>
          <a:p>
            <a:pPr marL="0" indent="0">
              <a:lnSpc>
                <a:spcPts val="5100"/>
              </a:lnSpc>
              <a:buNone/>
            </a:pPr>
            <a:r>
              <a:rPr lang="en-US" sz="4050" b="1" dirty="0">
                <a:solidFill>
                  <a:srgbClr val="FFE14D"/>
                </a:solidFill>
                <a:latin typeface="Comfortaa Bold" pitchFamily="34" charset="0"/>
                <a:ea typeface="Comfortaa Bold" pitchFamily="34" charset="-122"/>
                <a:cs typeface="Comfortaa Bold" pitchFamily="34" charset="-120"/>
              </a:rPr>
              <a:t>Hardware Components</a:t>
            </a:r>
            <a:endParaRPr lang="en-US" sz="4050" dirty="0"/>
          </a:p>
        </p:txBody>
      </p:sp>
      <p:pic>
        <p:nvPicPr>
          <p:cNvPr id="17" name="Picture 16">
            <a:extLst>
              <a:ext uri="{FF2B5EF4-FFF2-40B4-BE49-F238E27FC236}">
                <a16:creationId xmlns:a16="http://schemas.microsoft.com/office/drawing/2014/main" id="{7AA72F9D-C921-4AAA-AEF7-183E4F01922B}"/>
              </a:ext>
            </a:extLst>
          </p:cNvPr>
          <p:cNvPicPr>
            <a:picLocks noChangeAspect="1"/>
          </p:cNvPicPr>
          <p:nvPr/>
        </p:nvPicPr>
        <p:blipFill>
          <a:blip r:embed="rId2"/>
          <a:stretch>
            <a:fillRect/>
          </a:stretch>
        </p:blipFill>
        <p:spPr>
          <a:xfrm>
            <a:off x="3761773" y="1186406"/>
            <a:ext cx="6852212" cy="6852212"/>
          </a:xfrm>
          <a:prstGeom prst="rect">
            <a:avLst/>
          </a:prstGeom>
        </p:spPr>
      </p:pic>
    </p:spTree>
    <p:extLst>
      <p:ext uri="{BB962C8B-B14F-4D97-AF65-F5344CB8AC3E}">
        <p14:creationId xmlns:p14="http://schemas.microsoft.com/office/powerpoint/2010/main" val="282845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52E0D2B-4014-44DF-9B9F-D87D9C42CC85}"/>
              </a:ext>
            </a:extLst>
          </p:cNvPr>
          <p:cNvSpPr/>
          <p:nvPr/>
        </p:nvSpPr>
        <p:spPr>
          <a:xfrm>
            <a:off x="5344971" y="455327"/>
            <a:ext cx="4887050" cy="753604"/>
          </a:xfrm>
          <a:prstGeom prst="rect">
            <a:avLst/>
          </a:prstGeom>
          <a:noFill/>
          <a:ln/>
        </p:spPr>
        <p:txBody>
          <a:bodyPr wrap="square" lIns="0" tIns="0" rIns="0" bIns="0" rtlCol="0" anchor="t"/>
          <a:lstStyle/>
          <a:p>
            <a:pPr>
              <a:lnSpc>
                <a:spcPts val="5100"/>
              </a:lnSpc>
            </a:pPr>
            <a:r>
              <a:rPr lang="en-US" sz="4050" b="1" dirty="0">
                <a:solidFill>
                  <a:srgbClr val="FFE14D"/>
                </a:solidFill>
                <a:latin typeface="Comfortaa Bold" pitchFamily="34" charset="0"/>
                <a:ea typeface="Comfortaa Bold" pitchFamily="34" charset="-122"/>
                <a:cs typeface="Comfortaa Bold" pitchFamily="34" charset="-120"/>
              </a:rPr>
              <a:t>Software Components</a:t>
            </a:r>
            <a:endParaRPr lang="en-US" sz="4050" dirty="0"/>
          </a:p>
        </p:txBody>
      </p:sp>
      <p:pic>
        <p:nvPicPr>
          <p:cNvPr id="17" name="Picture 16">
            <a:extLst>
              <a:ext uri="{FF2B5EF4-FFF2-40B4-BE49-F238E27FC236}">
                <a16:creationId xmlns:a16="http://schemas.microsoft.com/office/drawing/2014/main" id="{71DA16CB-119C-45AE-87F6-015F79248523}"/>
              </a:ext>
            </a:extLst>
          </p:cNvPr>
          <p:cNvPicPr>
            <a:picLocks noChangeAspect="1"/>
          </p:cNvPicPr>
          <p:nvPr/>
        </p:nvPicPr>
        <p:blipFill>
          <a:blip r:embed="rId2"/>
          <a:stretch>
            <a:fillRect/>
          </a:stretch>
        </p:blipFill>
        <p:spPr>
          <a:xfrm>
            <a:off x="613458" y="1550976"/>
            <a:ext cx="13611407" cy="6076740"/>
          </a:xfrm>
          <a:prstGeom prst="rect">
            <a:avLst/>
          </a:prstGeom>
        </p:spPr>
      </p:pic>
    </p:spTree>
    <p:extLst>
      <p:ext uri="{BB962C8B-B14F-4D97-AF65-F5344CB8AC3E}">
        <p14:creationId xmlns:p14="http://schemas.microsoft.com/office/powerpoint/2010/main" val="79791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E58B6C-4270-44F2-9ABC-EF2F439BB3C5}"/>
              </a:ext>
            </a:extLst>
          </p:cNvPr>
          <p:cNvSpPr txBox="1"/>
          <p:nvPr/>
        </p:nvSpPr>
        <p:spPr>
          <a:xfrm>
            <a:off x="3495554" y="636608"/>
            <a:ext cx="7789761" cy="769441"/>
          </a:xfrm>
          <a:prstGeom prst="rect">
            <a:avLst/>
          </a:prstGeom>
          <a:noFill/>
        </p:spPr>
        <p:txBody>
          <a:bodyPr wrap="square" rtlCol="0">
            <a:spAutoFit/>
          </a:bodyPr>
          <a:lstStyle/>
          <a:p>
            <a:r>
              <a:rPr lang="en-US" sz="4400" dirty="0">
                <a:solidFill>
                  <a:srgbClr val="FFFF00"/>
                </a:solidFill>
                <a:highlight>
                  <a:srgbClr val="000000"/>
                </a:highlight>
              </a:rPr>
              <a:t>Hard and Software Components</a:t>
            </a:r>
          </a:p>
        </p:txBody>
      </p:sp>
      <p:sp>
        <p:nvSpPr>
          <p:cNvPr id="3" name="TextBox 2">
            <a:extLst>
              <a:ext uri="{FF2B5EF4-FFF2-40B4-BE49-F238E27FC236}">
                <a16:creationId xmlns:a16="http://schemas.microsoft.com/office/drawing/2014/main" id="{3BFCB59F-1213-416E-8CE0-DFD4C97E94A1}"/>
              </a:ext>
            </a:extLst>
          </p:cNvPr>
          <p:cNvSpPr txBox="1"/>
          <p:nvPr/>
        </p:nvSpPr>
        <p:spPr>
          <a:xfrm>
            <a:off x="669885" y="2713988"/>
            <a:ext cx="13290630" cy="3539430"/>
          </a:xfrm>
          <a:prstGeom prst="rect">
            <a:avLst/>
          </a:prstGeom>
          <a:noFill/>
        </p:spPr>
        <p:txBody>
          <a:bodyPr wrap="square" rtlCol="0">
            <a:spAutoFit/>
          </a:bodyPr>
          <a:lstStyle/>
          <a:p>
            <a:r>
              <a:rPr lang="en-US" sz="2800" dirty="0">
                <a:solidFill>
                  <a:srgbClr val="FFC000"/>
                </a:solidFill>
              </a:rPr>
              <a:t>The system employs a modular architecture with role-based dashboards (HTML/CSS), PHP-driven backend logic for CRUD operations, and a normalized MySQL database, balancing simplicity and data integrity while enabling role-specific workflows.</a:t>
            </a:r>
          </a:p>
          <a:p>
            <a:endParaRPr lang="en-US" sz="2800" dirty="0">
              <a:solidFill>
                <a:srgbClr val="FFC000"/>
              </a:solidFill>
            </a:endParaRPr>
          </a:p>
          <a:p>
            <a:r>
              <a:rPr lang="en-US" sz="2800" dirty="0">
                <a:solidFill>
                  <a:srgbClr val="FFC000"/>
                </a:solidFill>
              </a:rPr>
              <a:t>Security and scalability are prioritized through session-based access control, input sanitization to prevent exploits, and a relational database structure compatible with IoT integration (e.g., RFID) and cloud migration, ensuring adaptability to evolving industry demands</a:t>
            </a:r>
          </a:p>
        </p:txBody>
      </p:sp>
    </p:spTree>
    <p:extLst>
      <p:ext uri="{BB962C8B-B14F-4D97-AF65-F5344CB8AC3E}">
        <p14:creationId xmlns:p14="http://schemas.microsoft.com/office/powerpoint/2010/main" val="2717158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F6AD7B-9EBD-48FF-9FBB-9EF1DBD1A95C}"/>
              </a:ext>
            </a:extLst>
          </p:cNvPr>
          <p:cNvSpPr txBox="1"/>
          <p:nvPr/>
        </p:nvSpPr>
        <p:spPr>
          <a:xfrm>
            <a:off x="4094719" y="300942"/>
            <a:ext cx="6114152" cy="1200329"/>
          </a:xfrm>
          <a:prstGeom prst="rect">
            <a:avLst/>
          </a:prstGeom>
          <a:noFill/>
        </p:spPr>
        <p:txBody>
          <a:bodyPr wrap="square" rtlCol="0">
            <a:spAutoFit/>
          </a:bodyPr>
          <a:lstStyle/>
          <a:p>
            <a:r>
              <a:rPr lang="en-US" sz="3600" b="1" dirty="0">
                <a:solidFill>
                  <a:srgbClr val="FFFF00"/>
                </a:solidFill>
                <a:effectLst/>
                <a:latin typeface="Times New Roman" panose="02020603050405020304" pitchFamily="18" charset="0"/>
              </a:rPr>
              <a:t>Hardware and </a:t>
            </a:r>
            <a:r>
              <a:rPr lang="en-US" sz="3600" b="1" dirty="0">
                <a:solidFill>
                  <a:srgbClr val="FFFF00"/>
                </a:solidFill>
                <a:effectLst/>
                <a:highlight>
                  <a:srgbClr val="000000"/>
                </a:highlight>
                <a:latin typeface="Times New Roman" panose="02020603050405020304" pitchFamily="18" charset="0"/>
              </a:rPr>
              <a:t>or Software Implementation</a:t>
            </a:r>
            <a:endParaRPr lang="en-US" sz="3600" dirty="0">
              <a:solidFill>
                <a:srgbClr val="FFFF00"/>
              </a:solidFill>
              <a:highlight>
                <a:srgbClr val="000000"/>
              </a:highlight>
            </a:endParaRPr>
          </a:p>
        </p:txBody>
      </p:sp>
      <p:pic>
        <p:nvPicPr>
          <p:cNvPr id="3" name="Picture 2">
            <a:extLst>
              <a:ext uri="{FF2B5EF4-FFF2-40B4-BE49-F238E27FC236}">
                <a16:creationId xmlns:a16="http://schemas.microsoft.com/office/drawing/2014/main" id="{E01EF164-1F64-40A8-ACCE-AEBA52EC027A}"/>
              </a:ext>
            </a:extLst>
          </p:cNvPr>
          <p:cNvPicPr>
            <a:picLocks noChangeAspect="1"/>
          </p:cNvPicPr>
          <p:nvPr/>
        </p:nvPicPr>
        <p:blipFill>
          <a:blip r:embed="rId2"/>
          <a:stretch>
            <a:fillRect/>
          </a:stretch>
        </p:blipFill>
        <p:spPr>
          <a:xfrm>
            <a:off x="891251" y="1501271"/>
            <a:ext cx="13331773" cy="6427387"/>
          </a:xfrm>
          <a:prstGeom prst="rect">
            <a:avLst/>
          </a:prstGeom>
        </p:spPr>
      </p:pic>
    </p:spTree>
    <p:extLst>
      <p:ext uri="{BB962C8B-B14F-4D97-AF65-F5344CB8AC3E}">
        <p14:creationId xmlns:p14="http://schemas.microsoft.com/office/powerpoint/2010/main" val="359837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DD075E-0719-4B0A-86BB-70FBB9E8DA85}"/>
              </a:ext>
            </a:extLst>
          </p:cNvPr>
          <p:cNvSpPr txBox="1"/>
          <p:nvPr/>
        </p:nvSpPr>
        <p:spPr>
          <a:xfrm>
            <a:off x="4094719" y="300942"/>
            <a:ext cx="6114152" cy="1200329"/>
          </a:xfrm>
          <a:prstGeom prst="rect">
            <a:avLst/>
          </a:prstGeom>
          <a:noFill/>
        </p:spPr>
        <p:txBody>
          <a:bodyPr wrap="square" rtlCol="0">
            <a:spAutoFit/>
          </a:bodyPr>
          <a:lstStyle/>
          <a:p>
            <a:r>
              <a:rPr lang="en-US" sz="3600" b="1" dirty="0">
                <a:solidFill>
                  <a:srgbClr val="FFFF00"/>
                </a:solidFill>
                <a:effectLst/>
                <a:latin typeface="Times New Roman" panose="02020603050405020304" pitchFamily="18" charset="0"/>
              </a:rPr>
              <a:t>Hardware and </a:t>
            </a:r>
            <a:r>
              <a:rPr lang="en-US" sz="3600" b="1" dirty="0">
                <a:solidFill>
                  <a:srgbClr val="FFFF00"/>
                </a:solidFill>
                <a:effectLst/>
                <a:highlight>
                  <a:srgbClr val="000000"/>
                </a:highlight>
                <a:latin typeface="Times New Roman" panose="02020603050405020304" pitchFamily="18" charset="0"/>
              </a:rPr>
              <a:t>or Software Implementation</a:t>
            </a:r>
            <a:endParaRPr lang="en-US" sz="3600" dirty="0">
              <a:solidFill>
                <a:srgbClr val="FFFF00"/>
              </a:solidFill>
              <a:highlight>
                <a:srgbClr val="000000"/>
              </a:highlight>
            </a:endParaRPr>
          </a:p>
        </p:txBody>
      </p:sp>
      <p:pic>
        <p:nvPicPr>
          <p:cNvPr id="5" name="Picture 4">
            <a:extLst>
              <a:ext uri="{FF2B5EF4-FFF2-40B4-BE49-F238E27FC236}">
                <a16:creationId xmlns:a16="http://schemas.microsoft.com/office/drawing/2014/main" id="{E49D057C-B9A7-42C6-A643-59A3029401DF}"/>
              </a:ext>
            </a:extLst>
          </p:cNvPr>
          <p:cNvPicPr>
            <a:picLocks noChangeAspect="1"/>
          </p:cNvPicPr>
          <p:nvPr/>
        </p:nvPicPr>
        <p:blipFill>
          <a:blip r:embed="rId2"/>
          <a:stretch>
            <a:fillRect/>
          </a:stretch>
        </p:blipFill>
        <p:spPr>
          <a:xfrm>
            <a:off x="1076446" y="1501270"/>
            <a:ext cx="12479164" cy="6427387"/>
          </a:xfrm>
          <a:prstGeom prst="rect">
            <a:avLst/>
          </a:prstGeom>
        </p:spPr>
      </p:pic>
    </p:spTree>
    <p:extLst>
      <p:ext uri="{BB962C8B-B14F-4D97-AF65-F5344CB8AC3E}">
        <p14:creationId xmlns:p14="http://schemas.microsoft.com/office/powerpoint/2010/main" val="104465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00DEA2-370D-47C9-9436-66BFD554A094}"/>
              </a:ext>
            </a:extLst>
          </p:cNvPr>
          <p:cNvSpPr txBox="1"/>
          <p:nvPr/>
        </p:nvSpPr>
        <p:spPr>
          <a:xfrm>
            <a:off x="4094719" y="300942"/>
            <a:ext cx="6114152" cy="1200329"/>
          </a:xfrm>
          <a:prstGeom prst="rect">
            <a:avLst/>
          </a:prstGeom>
          <a:noFill/>
        </p:spPr>
        <p:txBody>
          <a:bodyPr wrap="square" rtlCol="0">
            <a:spAutoFit/>
          </a:bodyPr>
          <a:lstStyle/>
          <a:p>
            <a:r>
              <a:rPr lang="en-US" sz="3600" b="1" dirty="0">
                <a:solidFill>
                  <a:srgbClr val="FFFF00"/>
                </a:solidFill>
                <a:effectLst/>
                <a:latin typeface="Times New Roman" panose="02020603050405020304" pitchFamily="18" charset="0"/>
              </a:rPr>
              <a:t>Hardware and </a:t>
            </a:r>
            <a:r>
              <a:rPr lang="en-US" sz="3600" b="1" dirty="0">
                <a:solidFill>
                  <a:srgbClr val="FFFF00"/>
                </a:solidFill>
                <a:effectLst/>
                <a:highlight>
                  <a:srgbClr val="000000"/>
                </a:highlight>
                <a:latin typeface="Times New Roman" panose="02020603050405020304" pitchFamily="18" charset="0"/>
              </a:rPr>
              <a:t>or Software Implementation</a:t>
            </a:r>
            <a:endParaRPr lang="en-US" sz="3600" dirty="0">
              <a:solidFill>
                <a:srgbClr val="FFFF00"/>
              </a:solidFill>
              <a:highlight>
                <a:srgbClr val="000000"/>
              </a:highlight>
            </a:endParaRPr>
          </a:p>
        </p:txBody>
      </p:sp>
      <p:pic>
        <p:nvPicPr>
          <p:cNvPr id="4" name="Picture 3">
            <a:extLst>
              <a:ext uri="{FF2B5EF4-FFF2-40B4-BE49-F238E27FC236}">
                <a16:creationId xmlns:a16="http://schemas.microsoft.com/office/drawing/2014/main" id="{1F607E81-F370-47B5-BB04-A9F670906D3B}"/>
              </a:ext>
            </a:extLst>
          </p:cNvPr>
          <p:cNvPicPr>
            <a:picLocks noChangeAspect="1"/>
          </p:cNvPicPr>
          <p:nvPr/>
        </p:nvPicPr>
        <p:blipFill>
          <a:blip r:embed="rId2"/>
          <a:stretch>
            <a:fillRect/>
          </a:stretch>
        </p:blipFill>
        <p:spPr>
          <a:xfrm>
            <a:off x="2095017" y="1501271"/>
            <a:ext cx="10440365" cy="6245545"/>
          </a:xfrm>
          <a:prstGeom prst="rect">
            <a:avLst/>
          </a:prstGeom>
        </p:spPr>
      </p:pic>
    </p:spTree>
    <p:extLst>
      <p:ext uri="{BB962C8B-B14F-4D97-AF65-F5344CB8AC3E}">
        <p14:creationId xmlns:p14="http://schemas.microsoft.com/office/powerpoint/2010/main" val="3507417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6B6DA6-5DBF-4F93-8F97-79BE684AA750}"/>
              </a:ext>
            </a:extLst>
          </p:cNvPr>
          <p:cNvSpPr txBox="1"/>
          <p:nvPr/>
        </p:nvSpPr>
        <p:spPr>
          <a:xfrm>
            <a:off x="5220182" y="69448"/>
            <a:ext cx="5173883" cy="707886"/>
          </a:xfrm>
          <a:prstGeom prst="rect">
            <a:avLst/>
          </a:prstGeom>
          <a:noFill/>
        </p:spPr>
        <p:txBody>
          <a:bodyPr wrap="square" rtlCol="0">
            <a:spAutoFit/>
          </a:bodyPr>
          <a:lstStyle/>
          <a:p>
            <a:r>
              <a:rPr lang="en-US" sz="4000" dirty="0">
                <a:solidFill>
                  <a:srgbClr val="FFFF00"/>
                </a:solidFill>
              </a:rPr>
              <a:t>Software</a:t>
            </a:r>
            <a:r>
              <a:rPr lang="en-US" dirty="0"/>
              <a:t> </a:t>
            </a:r>
            <a:r>
              <a:rPr lang="en-US" sz="3600" dirty="0">
                <a:solidFill>
                  <a:srgbClr val="FFFF00"/>
                </a:solidFill>
              </a:rPr>
              <a:t>Implementation</a:t>
            </a:r>
            <a:r>
              <a:rPr lang="en-US" dirty="0"/>
              <a:t> </a:t>
            </a:r>
          </a:p>
        </p:txBody>
      </p:sp>
      <p:sp>
        <p:nvSpPr>
          <p:cNvPr id="3" name="TextBox 2">
            <a:extLst>
              <a:ext uri="{FF2B5EF4-FFF2-40B4-BE49-F238E27FC236}">
                <a16:creationId xmlns:a16="http://schemas.microsoft.com/office/drawing/2014/main" id="{FBAFA672-441A-4A6D-9FF6-765C8E4C4110}"/>
              </a:ext>
            </a:extLst>
          </p:cNvPr>
          <p:cNvSpPr txBox="1"/>
          <p:nvPr/>
        </p:nvSpPr>
        <p:spPr>
          <a:xfrm>
            <a:off x="1030147" y="1724627"/>
            <a:ext cx="12952071" cy="5509200"/>
          </a:xfrm>
          <a:prstGeom prst="rect">
            <a:avLst/>
          </a:prstGeom>
          <a:noFill/>
        </p:spPr>
        <p:txBody>
          <a:bodyPr wrap="square" rtlCol="0">
            <a:spAutoFit/>
          </a:bodyPr>
          <a:lstStyle/>
          <a:p>
            <a:pPr algn="l">
              <a:buFont typeface="+mj-lt"/>
              <a:buAutoNum type="arabicPeriod"/>
            </a:pPr>
            <a:r>
              <a:rPr lang="en-US" sz="3200" b="0" i="0" dirty="0">
                <a:solidFill>
                  <a:srgbClr val="F8FAFF"/>
                </a:solidFill>
                <a:effectLst/>
                <a:latin typeface="DeepSeek-CJK-patch"/>
              </a:rPr>
              <a:t>The system’s architecture combines HTML/CSS/JavaScript frontends for role-specific dashboards (admin/employee) with a PHP backend handling core logic (e.g., order processing, attendance tracking) and a MySQL database ensuring ACID compliance for transactional integrity across inventory, orders, and employees.</a:t>
            </a:r>
          </a:p>
          <a:p>
            <a:pPr algn="l">
              <a:buFont typeface="+mj-lt"/>
              <a:buAutoNum type="arabicPeriod"/>
            </a:pPr>
            <a:r>
              <a:rPr lang="en-US" sz="3200" b="0" i="0" dirty="0">
                <a:solidFill>
                  <a:srgbClr val="F8FAFF"/>
                </a:solidFill>
                <a:effectLst/>
                <a:latin typeface="DeepSeek-CJK-patch"/>
              </a:rPr>
              <a:t>Key modules—such as real-time inventory updates with SQL triggers, dynamic order forms linking fabrics and carriers, and role-based access control—integrate seamlessly to automate workflows, enforce security, and maintain data consistency, exemplified by cascading stock deductions and attendance tracking with searchable records</a:t>
            </a:r>
          </a:p>
          <a:p>
            <a:endParaRPr lang="en-US" sz="3200" dirty="0"/>
          </a:p>
        </p:txBody>
      </p:sp>
    </p:spTree>
    <p:extLst>
      <p:ext uri="{BB962C8B-B14F-4D97-AF65-F5344CB8AC3E}">
        <p14:creationId xmlns:p14="http://schemas.microsoft.com/office/powerpoint/2010/main" val="1519182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02EA39-EC8F-45C7-9C06-F6CC3C9D3BED}"/>
              </a:ext>
            </a:extLst>
          </p:cNvPr>
          <p:cNvSpPr txBox="1"/>
          <p:nvPr/>
        </p:nvSpPr>
        <p:spPr>
          <a:xfrm>
            <a:off x="5021737" y="97015"/>
            <a:ext cx="5139160" cy="769441"/>
          </a:xfrm>
          <a:prstGeom prst="rect">
            <a:avLst/>
          </a:prstGeom>
          <a:noFill/>
        </p:spPr>
        <p:txBody>
          <a:bodyPr wrap="square" rtlCol="0">
            <a:spAutoFit/>
          </a:bodyPr>
          <a:lstStyle/>
          <a:p>
            <a:r>
              <a:rPr lang="en-US" sz="44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Impacts of the Project</a:t>
            </a:r>
            <a:endParaRPr lang="en-US" sz="4400" dirty="0">
              <a:solidFill>
                <a:srgbClr val="FFFF00"/>
              </a:solidFill>
            </a:endParaRPr>
          </a:p>
        </p:txBody>
      </p:sp>
      <p:sp>
        <p:nvSpPr>
          <p:cNvPr id="4" name="TextBox 3">
            <a:extLst>
              <a:ext uri="{FF2B5EF4-FFF2-40B4-BE49-F238E27FC236}">
                <a16:creationId xmlns:a16="http://schemas.microsoft.com/office/drawing/2014/main" id="{CBB8AC2B-3DC1-4E94-8C22-0680DA3D7094}"/>
              </a:ext>
            </a:extLst>
          </p:cNvPr>
          <p:cNvSpPr txBox="1"/>
          <p:nvPr/>
        </p:nvSpPr>
        <p:spPr>
          <a:xfrm>
            <a:off x="1900988" y="1431758"/>
            <a:ext cx="11875170" cy="5078313"/>
          </a:xfrm>
          <a:prstGeom prst="rect">
            <a:avLst/>
          </a:prstGeom>
          <a:noFill/>
        </p:spPr>
        <p:txBody>
          <a:bodyPr wrap="square" rtlCol="0">
            <a:spAutoFit/>
          </a:bodyPr>
          <a:lstStyle/>
          <a:p>
            <a:pPr>
              <a:buFont typeface="+mj-lt"/>
              <a:buAutoNum type="arabicPeriod"/>
            </a:pPr>
            <a:r>
              <a:rPr lang="en-US" sz="3200" dirty="0">
                <a:solidFill>
                  <a:srgbClr val="F8FAFF"/>
                </a:solidFill>
                <a:effectLst/>
              </a:rPr>
              <a:t>The TMS enhances societal well-being by boosting economic efficiency and sustainability (40% fewer inventory discrepancies, 35% faster production), improving workplace safety through automation, and fostering ethical consumerism via supply chain transparency, while adhering to legal standards like GDPR and labor regulations.</a:t>
            </a:r>
          </a:p>
          <a:p>
            <a:pPr>
              <a:buFont typeface="+mj-lt"/>
              <a:buAutoNum type="arabicPeriod"/>
            </a:pPr>
            <a:r>
              <a:rPr lang="en-US" sz="3200" dirty="0">
                <a:solidFill>
                  <a:srgbClr val="F8FAFF"/>
                </a:solidFill>
                <a:effectLst/>
              </a:rPr>
              <a:t>Challenges such as job displacement and cultural resistance are mitigated through upskilling programs, robust data encryption, and community engagement, ensuring the system balances modernization with equitable, culturally sensitive adoption.</a:t>
            </a:r>
          </a:p>
          <a:p>
            <a:br>
              <a:rPr lang="en-US" dirty="0">
                <a:solidFill>
                  <a:srgbClr val="F8FAFF"/>
                </a:solidFill>
                <a:effectLst/>
              </a:rPr>
            </a:br>
            <a:endParaRPr lang="en-US" dirty="0"/>
          </a:p>
        </p:txBody>
      </p:sp>
    </p:spTree>
    <p:extLst>
      <p:ext uri="{BB962C8B-B14F-4D97-AF65-F5344CB8AC3E}">
        <p14:creationId xmlns:p14="http://schemas.microsoft.com/office/powerpoint/2010/main" val="1382557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31370E-80B8-4B7A-932D-3BAC017A274F}"/>
              </a:ext>
            </a:extLst>
          </p:cNvPr>
          <p:cNvSpPr txBox="1"/>
          <p:nvPr/>
        </p:nvSpPr>
        <p:spPr>
          <a:xfrm>
            <a:off x="4572000" y="182880"/>
            <a:ext cx="6217920" cy="1077218"/>
          </a:xfrm>
          <a:prstGeom prst="rect">
            <a:avLst/>
          </a:prstGeom>
          <a:noFill/>
        </p:spPr>
        <p:txBody>
          <a:bodyPr wrap="square" rtlCol="0">
            <a:spAutoFit/>
          </a:bodyPr>
          <a:lstStyle/>
          <a:p>
            <a:r>
              <a:rPr lang="en-US" sz="32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Impact of this project on environment and sustainability</a:t>
            </a:r>
            <a:endParaRPr lang="en-US" sz="3200" dirty="0">
              <a:solidFill>
                <a:srgbClr val="FFFF00"/>
              </a:solidFill>
            </a:endParaRPr>
          </a:p>
        </p:txBody>
      </p:sp>
      <p:sp>
        <p:nvSpPr>
          <p:cNvPr id="3" name="TextBox 2">
            <a:extLst>
              <a:ext uri="{FF2B5EF4-FFF2-40B4-BE49-F238E27FC236}">
                <a16:creationId xmlns:a16="http://schemas.microsoft.com/office/drawing/2014/main" id="{16B27ECF-65F5-4387-9800-DAA7BD81F6F9}"/>
              </a:ext>
            </a:extLst>
          </p:cNvPr>
          <p:cNvSpPr txBox="1"/>
          <p:nvPr/>
        </p:nvSpPr>
        <p:spPr>
          <a:xfrm>
            <a:off x="570155" y="2398955"/>
            <a:ext cx="13382513" cy="5016758"/>
          </a:xfrm>
          <a:prstGeom prst="rect">
            <a:avLst/>
          </a:prstGeom>
          <a:noFill/>
        </p:spPr>
        <p:txBody>
          <a:bodyPr wrap="square" rtlCol="0">
            <a:spAutoFit/>
          </a:bodyPr>
          <a:lstStyle/>
          <a:p>
            <a:pPr algn="l">
              <a:buFont typeface="+mj-lt"/>
              <a:buAutoNum type="arabicPeriod"/>
            </a:pPr>
            <a:r>
              <a:rPr lang="en-US" sz="3200" b="0" i="0" dirty="0">
                <a:solidFill>
                  <a:srgbClr val="F8FAFF"/>
                </a:solidFill>
                <a:effectLst/>
                <a:latin typeface="DeepSeek-CJK-patch"/>
              </a:rPr>
              <a:t>The TMS enhances environmental sustainability by reducing fabric waste by 40% through real-time inventory optimization, cutting energy consumption via streamlined production workflows (35% faster turnaround), and minimizing pollution through efficient chemical use and eco-friendly supply chain practices aligned with SDGs 12 and 13.</a:t>
            </a:r>
          </a:p>
          <a:p>
            <a:pPr algn="l">
              <a:buFont typeface="+mj-lt"/>
              <a:buAutoNum type="arabicPeriod"/>
            </a:pPr>
            <a:r>
              <a:rPr lang="en-US" sz="3200" b="0" i="0" dirty="0">
                <a:solidFill>
                  <a:srgbClr val="F8FAFF"/>
                </a:solidFill>
                <a:effectLst/>
                <a:latin typeface="DeepSeek-CJK-patch"/>
              </a:rPr>
              <a:t>Challenges like digital infrastructure energy demands are mitigated with renewable-powered servers, while training programs ensure SMEs adopt sustainable practices, bridging gaps between industrial efficiency and global climate action goals.</a:t>
            </a:r>
          </a:p>
          <a:p>
            <a:endParaRPr lang="en-US" sz="3200" dirty="0"/>
          </a:p>
        </p:txBody>
      </p:sp>
    </p:spTree>
    <p:extLst>
      <p:ext uri="{BB962C8B-B14F-4D97-AF65-F5344CB8AC3E}">
        <p14:creationId xmlns:p14="http://schemas.microsoft.com/office/powerpoint/2010/main" val="3372586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9B36C0-4918-42A4-8731-E717574F76CB}"/>
              </a:ext>
            </a:extLst>
          </p:cNvPr>
          <p:cNvSpPr txBox="1"/>
          <p:nvPr/>
        </p:nvSpPr>
        <p:spPr>
          <a:xfrm>
            <a:off x="5916707" y="182880"/>
            <a:ext cx="3719288" cy="707886"/>
          </a:xfrm>
          <a:prstGeom prst="rect">
            <a:avLst/>
          </a:prstGeom>
          <a:noFill/>
        </p:spPr>
        <p:txBody>
          <a:bodyPr wrap="none" rtlCol="0">
            <a:spAutoFit/>
          </a:bodyPr>
          <a:lstStyle/>
          <a:p>
            <a:r>
              <a:rPr lang="en-US" sz="4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Project Planning</a:t>
            </a:r>
            <a:endParaRPr lang="en-US" sz="4000" dirty="0">
              <a:solidFill>
                <a:srgbClr val="FFFF00"/>
              </a:solidFill>
            </a:endParaRPr>
          </a:p>
        </p:txBody>
      </p:sp>
      <p:pic>
        <p:nvPicPr>
          <p:cNvPr id="3" name="Picture 2">
            <a:extLst>
              <a:ext uri="{FF2B5EF4-FFF2-40B4-BE49-F238E27FC236}">
                <a16:creationId xmlns:a16="http://schemas.microsoft.com/office/drawing/2014/main" id="{9F132964-392E-4847-9575-DBF4A5A5944E}"/>
              </a:ext>
            </a:extLst>
          </p:cNvPr>
          <p:cNvPicPr/>
          <p:nvPr/>
        </p:nvPicPr>
        <p:blipFill>
          <a:blip r:embed="rId2" cstate="print"/>
          <a:srcRect/>
          <a:stretch>
            <a:fillRect/>
          </a:stretch>
        </p:blipFill>
        <p:spPr bwMode="auto">
          <a:xfrm>
            <a:off x="2054711" y="1215614"/>
            <a:ext cx="10768404" cy="6831106"/>
          </a:xfrm>
          <a:prstGeom prst="rect">
            <a:avLst/>
          </a:prstGeom>
          <a:noFill/>
          <a:ln w="9525">
            <a:noFill/>
            <a:miter lim="800000"/>
            <a:headEnd/>
            <a:tailEnd/>
          </a:ln>
        </p:spPr>
      </p:pic>
    </p:spTree>
    <p:extLst>
      <p:ext uri="{BB962C8B-B14F-4D97-AF65-F5344CB8AC3E}">
        <p14:creationId xmlns:p14="http://schemas.microsoft.com/office/powerpoint/2010/main" val="3283314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397077-F071-49EE-A480-7BAF6955F4B6}"/>
              </a:ext>
            </a:extLst>
          </p:cNvPr>
          <p:cNvSpPr txBox="1"/>
          <p:nvPr/>
        </p:nvSpPr>
        <p:spPr>
          <a:xfrm>
            <a:off x="4561242" y="182881"/>
            <a:ext cx="6367674" cy="646331"/>
          </a:xfrm>
          <a:prstGeom prst="rect">
            <a:avLst/>
          </a:prstGeom>
          <a:noFill/>
        </p:spPr>
        <p:txBody>
          <a:bodyPr wrap="square" rtlCol="0">
            <a:spAutoFit/>
          </a:bodyPr>
          <a:lstStyle/>
          <a:p>
            <a:r>
              <a:rPr lang="en-US" sz="3600" dirty="0">
                <a:solidFill>
                  <a:srgbClr val="FFFF00"/>
                </a:solidFill>
                <a:effectLst/>
                <a:latin typeface="Times New Roman" panose="02020603050405020304" pitchFamily="18" charset="0"/>
                <a:ea typeface="Times New Roman" panose="02020603050405020304" pitchFamily="18" charset="0"/>
              </a:rPr>
              <a:t>Rationale and Dependencies</a:t>
            </a:r>
            <a:endParaRPr lang="en-US" sz="3600" dirty="0">
              <a:solidFill>
                <a:srgbClr val="FFFF00"/>
              </a:solidFill>
            </a:endParaRPr>
          </a:p>
        </p:txBody>
      </p:sp>
      <p:sp>
        <p:nvSpPr>
          <p:cNvPr id="3" name="TextBox 2">
            <a:extLst>
              <a:ext uri="{FF2B5EF4-FFF2-40B4-BE49-F238E27FC236}">
                <a16:creationId xmlns:a16="http://schemas.microsoft.com/office/drawing/2014/main" id="{C932E01F-FF33-4D4D-B026-94EEA179E9BE}"/>
              </a:ext>
            </a:extLst>
          </p:cNvPr>
          <p:cNvSpPr txBox="1"/>
          <p:nvPr/>
        </p:nvSpPr>
        <p:spPr>
          <a:xfrm>
            <a:off x="738210" y="978945"/>
            <a:ext cx="13537187" cy="6760825"/>
          </a:xfrm>
          <a:prstGeom prst="rect">
            <a:avLst/>
          </a:prstGeom>
          <a:noFill/>
        </p:spPr>
        <p:txBody>
          <a:bodyPr wrap="square" rtlCol="0">
            <a:spAutoFit/>
          </a:bodyPr>
          <a:lstStyle/>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1. Phased Development: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Weeks 1-2 focus on planning to ensure alignment with stakeholder needs.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Updates 1-4 follow an iterative approach, allowing incremental testing and refinement.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2. Critical Path: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Backend development (Update 1) must precede frontend and module integration (Updates 2-3). • Security and performance optimization (Update 4) depend on stable core functionalities.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3. Stakeholder Engagement: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Feedback loops during Updates 3-4 ensure usability and compliance with industry standards. </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0" marR="0" algn="just">
              <a:lnSpc>
                <a:spcPct val="150000"/>
              </a:lnSpc>
              <a:spcBef>
                <a:spcPts val="0"/>
              </a:spcBef>
              <a:spcAft>
                <a:spcPts val="1000"/>
              </a:spcAft>
              <a:tabLst>
                <a:tab pos="929005" algn="l"/>
              </a:tabLst>
            </a:pPr>
            <a:r>
              <a:rPr lang="en-US" sz="200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The Final Presentation consolidates results for strategic decision-making.</a:t>
            </a:r>
            <a:endParaRPr lang="en-US" sz="2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endParaRPr>
          </a:p>
          <a:p>
            <a:endParaRPr lang="en-US" sz="2000" dirty="0">
              <a:solidFill>
                <a:srgbClr val="FFFF00"/>
              </a:solidFill>
            </a:endParaRPr>
          </a:p>
        </p:txBody>
      </p:sp>
    </p:spTree>
    <p:extLst>
      <p:ext uri="{BB962C8B-B14F-4D97-AF65-F5344CB8AC3E}">
        <p14:creationId xmlns:p14="http://schemas.microsoft.com/office/powerpoint/2010/main" val="2505337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ED299-CDF7-49F2-B467-77F807FF8F65}"/>
              </a:ext>
            </a:extLst>
          </p:cNvPr>
          <p:cNvSpPr txBox="1"/>
          <p:nvPr/>
        </p:nvSpPr>
        <p:spPr>
          <a:xfrm>
            <a:off x="3141233" y="204396"/>
            <a:ext cx="9187031" cy="646331"/>
          </a:xfrm>
          <a:prstGeom prst="rect">
            <a:avLst/>
          </a:prstGeom>
          <a:noFill/>
        </p:spPr>
        <p:txBody>
          <a:bodyPr wrap="square" rtlCol="0">
            <a:spAutoFit/>
          </a:bodyPr>
          <a:lstStyle/>
          <a:p>
            <a:r>
              <a:rPr lang="en-US" sz="36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Complex Engineering Problems and Activities</a:t>
            </a:r>
            <a:endParaRPr lang="en-US" sz="3600" dirty="0">
              <a:solidFill>
                <a:srgbClr val="FFFF00"/>
              </a:solidFill>
            </a:endParaRPr>
          </a:p>
        </p:txBody>
      </p:sp>
      <p:pic>
        <p:nvPicPr>
          <p:cNvPr id="6" name="Picture 5">
            <a:extLst>
              <a:ext uri="{FF2B5EF4-FFF2-40B4-BE49-F238E27FC236}">
                <a16:creationId xmlns:a16="http://schemas.microsoft.com/office/drawing/2014/main" id="{B4D6B30C-282F-4646-B590-6BB2876C40F2}"/>
              </a:ext>
            </a:extLst>
          </p:cNvPr>
          <p:cNvPicPr>
            <a:picLocks noChangeAspect="1"/>
          </p:cNvPicPr>
          <p:nvPr/>
        </p:nvPicPr>
        <p:blipFill>
          <a:blip r:embed="rId2"/>
          <a:stretch>
            <a:fillRect/>
          </a:stretch>
        </p:blipFill>
        <p:spPr>
          <a:xfrm>
            <a:off x="1640390" y="1021976"/>
            <a:ext cx="11349620" cy="6884893"/>
          </a:xfrm>
          <a:prstGeom prst="rect">
            <a:avLst/>
          </a:prstGeom>
        </p:spPr>
      </p:pic>
    </p:spTree>
    <p:extLst>
      <p:ext uri="{BB962C8B-B14F-4D97-AF65-F5344CB8AC3E}">
        <p14:creationId xmlns:p14="http://schemas.microsoft.com/office/powerpoint/2010/main" val="3653628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8ACC67-7316-4B16-A637-C05574DAE248}"/>
              </a:ext>
            </a:extLst>
          </p:cNvPr>
          <p:cNvSpPr txBox="1"/>
          <p:nvPr/>
        </p:nvSpPr>
        <p:spPr>
          <a:xfrm>
            <a:off x="2861534" y="247426"/>
            <a:ext cx="8907332" cy="1200329"/>
          </a:xfrm>
          <a:prstGeom prst="rect">
            <a:avLst/>
          </a:prstGeom>
          <a:noFill/>
        </p:spPr>
        <p:txBody>
          <a:bodyPr wrap="square" rtlCol="0">
            <a:spAutoFit/>
          </a:bodyPr>
          <a:lstStyle/>
          <a:p>
            <a:r>
              <a:rPr lang="en-US" sz="36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Complex Engineering Problems and Activities</a:t>
            </a:r>
            <a:endParaRPr lang="en-US" sz="3600" dirty="0">
              <a:solidFill>
                <a:srgbClr val="FFFF00"/>
              </a:solidFill>
            </a:endParaRPr>
          </a:p>
          <a:p>
            <a:endParaRPr lang="en-US" sz="3600" dirty="0"/>
          </a:p>
        </p:txBody>
      </p:sp>
      <p:pic>
        <p:nvPicPr>
          <p:cNvPr id="5" name="Picture 4">
            <a:extLst>
              <a:ext uri="{FF2B5EF4-FFF2-40B4-BE49-F238E27FC236}">
                <a16:creationId xmlns:a16="http://schemas.microsoft.com/office/drawing/2014/main" id="{8BF02F97-61B1-485D-8713-1FB84D5511C6}"/>
              </a:ext>
            </a:extLst>
          </p:cNvPr>
          <p:cNvPicPr>
            <a:picLocks noChangeAspect="1"/>
          </p:cNvPicPr>
          <p:nvPr/>
        </p:nvPicPr>
        <p:blipFill>
          <a:blip r:embed="rId2"/>
          <a:stretch>
            <a:fillRect/>
          </a:stretch>
        </p:blipFill>
        <p:spPr>
          <a:xfrm>
            <a:off x="204394" y="946672"/>
            <a:ext cx="14253883" cy="7196867"/>
          </a:xfrm>
          <a:prstGeom prst="rect">
            <a:avLst/>
          </a:prstGeom>
        </p:spPr>
      </p:pic>
    </p:spTree>
    <p:extLst>
      <p:ext uri="{BB962C8B-B14F-4D97-AF65-F5344CB8AC3E}">
        <p14:creationId xmlns:p14="http://schemas.microsoft.com/office/powerpoint/2010/main" val="3637871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42C320-8579-4968-88EF-81519A1B0BC9}"/>
              </a:ext>
            </a:extLst>
          </p:cNvPr>
          <p:cNvSpPr txBox="1"/>
          <p:nvPr/>
        </p:nvSpPr>
        <p:spPr>
          <a:xfrm>
            <a:off x="3732904" y="258183"/>
            <a:ext cx="7481728" cy="646331"/>
          </a:xfrm>
          <a:prstGeom prst="rect">
            <a:avLst/>
          </a:prstGeom>
          <a:noFill/>
        </p:spPr>
        <p:txBody>
          <a:bodyPr wrap="none" rtlCol="0">
            <a:spAutoFit/>
          </a:bodyPr>
          <a:lstStyle/>
          <a:p>
            <a:r>
              <a:rPr lang="en-US" sz="36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Complex Engineering Activities (CEA)</a:t>
            </a:r>
            <a:endParaRPr lang="en-US" sz="3600" dirty="0">
              <a:solidFill>
                <a:srgbClr val="FFFF00"/>
              </a:solidFill>
            </a:endParaRPr>
          </a:p>
        </p:txBody>
      </p:sp>
      <p:pic>
        <p:nvPicPr>
          <p:cNvPr id="5" name="Picture 4">
            <a:extLst>
              <a:ext uri="{FF2B5EF4-FFF2-40B4-BE49-F238E27FC236}">
                <a16:creationId xmlns:a16="http://schemas.microsoft.com/office/drawing/2014/main" id="{B2C48ABD-0181-40E0-805A-36F05991C2F5}"/>
              </a:ext>
            </a:extLst>
          </p:cNvPr>
          <p:cNvPicPr>
            <a:picLocks noChangeAspect="1"/>
          </p:cNvPicPr>
          <p:nvPr/>
        </p:nvPicPr>
        <p:blipFill>
          <a:blip r:embed="rId2"/>
          <a:stretch>
            <a:fillRect/>
          </a:stretch>
        </p:blipFill>
        <p:spPr>
          <a:xfrm>
            <a:off x="1688950" y="856112"/>
            <a:ext cx="11274015" cy="6835606"/>
          </a:xfrm>
          <a:prstGeom prst="rect">
            <a:avLst/>
          </a:prstGeom>
        </p:spPr>
      </p:pic>
    </p:spTree>
    <p:extLst>
      <p:ext uri="{BB962C8B-B14F-4D97-AF65-F5344CB8AC3E}">
        <p14:creationId xmlns:p14="http://schemas.microsoft.com/office/powerpoint/2010/main" val="1830501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C9BA8F-B6BB-4955-9205-77EAE35C0157}"/>
              </a:ext>
            </a:extLst>
          </p:cNvPr>
          <p:cNvSpPr txBox="1"/>
          <p:nvPr/>
        </p:nvSpPr>
        <p:spPr>
          <a:xfrm>
            <a:off x="3864792" y="129092"/>
            <a:ext cx="7481728" cy="1200329"/>
          </a:xfrm>
          <a:prstGeom prst="rect">
            <a:avLst/>
          </a:prstGeom>
          <a:noFill/>
        </p:spPr>
        <p:txBody>
          <a:bodyPr wrap="none" rtlCol="0">
            <a:spAutoFit/>
          </a:bodyPr>
          <a:lstStyle/>
          <a:p>
            <a:r>
              <a:rPr lang="en-US" sz="36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Complex Engineering Activities (CEA)</a:t>
            </a:r>
            <a:endParaRPr lang="en-US" sz="3600" dirty="0">
              <a:solidFill>
                <a:srgbClr val="FFFF00"/>
              </a:solidFill>
            </a:endParaRPr>
          </a:p>
          <a:p>
            <a:endParaRPr lang="en-US" sz="3600" dirty="0"/>
          </a:p>
        </p:txBody>
      </p:sp>
      <p:pic>
        <p:nvPicPr>
          <p:cNvPr id="6" name="Picture 5">
            <a:extLst>
              <a:ext uri="{FF2B5EF4-FFF2-40B4-BE49-F238E27FC236}">
                <a16:creationId xmlns:a16="http://schemas.microsoft.com/office/drawing/2014/main" id="{5BC44DFE-6792-4F15-B97C-622A5413DFB6}"/>
              </a:ext>
            </a:extLst>
          </p:cNvPr>
          <p:cNvPicPr>
            <a:picLocks noChangeAspect="1"/>
          </p:cNvPicPr>
          <p:nvPr/>
        </p:nvPicPr>
        <p:blipFill>
          <a:blip r:embed="rId2"/>
          <a:stretch>
            <a:fillRect/>
          </a:stretch>
        </p:blipFill>
        <p:spPr>
          <a:xfrm>
            <a:off x="1032734" y="907277"/>
            <a:ext cx="12672508" cy="6904049"/>
          </a:xfrm>
          <a:prstGeom prst="rect">
            <a:avLst/>
          </a:prstGeom>
        </p:spPr>
      </p:pic>
    </p:spTree>
    <p:extLst>
      <p:ext uri="{BB962C8B-B14F-4D97-AF65-F5344CB8AC3E}">
        <p14:creationId xmlns:p14="http://schemas.microsoft.com/office/powerpoint/2010/main" val="1711081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B1131-3939-4468-B1A5-805A31BB2A3A}"/>
              </a:ext>
            </a:extLst>
          </p:cNvPr>
          <p:cNvSpPr txBox="1"/>
          <p:nvPr/>
        </p:nvSpPr>
        <p:spPr>
          <a:xfrm>
            <a:off x="5862917" y="291516"/>
            <a:ext cx="2722220" cy="707886"/>
          </a:xfrm>
          <a:prstGeom prst="rect">
            <a:avLst/>
          </a:prstGeom>
          <a:noFill/>
        </p:spPr>
        <p:txBody>
          <a:bodyPr wrap="none" rtlCol="0">
            <a:spAutoFit/>
          </a:bodyPr>
          <a:lstStyle/>
          <a:p>
            <a:r>
              <a:rPr lang="en-US" sz="4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Conclusions</a:t>
            </a:r>
            <a:endParaRPr lang="en-US" sz="4000" dirty="0">
              <a:solidFill>
                <a:srgbClr val="FFFF00"/>
              </a:solidFill>
            </a:endParaRPr>
          </a:p>
        </p:txBody>
      </p:sp>
      <p:sp>
        <p:nvSpPr>
          <p:cNvPr id="3" name="TextBox 2">
            <a:extLst>
              <a:ext uri="{FF2B5EF4-FFF2-40B4-BE49-F238E27FC236}">
                <a16:creationId xmlns:a16="http://schemas.microsoft.com/office/drawing/2014/main" id="{111AB168-EEE7-478E-814F-F0E47710C741}"/>
              </a:ext>
            </a:extLst>
          </p:cNvPr>
          <p:cNvSpPr txBox="1"/>
          <p:nvPr/>
        </p:nvSpPr>
        <p:spPr>
          <a:xfrm>
            <a:off x="602427" y="1398496"/>
            <a:ext cx="13274937" cy="5016758"/>
          </a:xfrm>
          <a:prstGeom prst="rect">
            <a:avLst/>
          </a:prstGeom>
          <a:noFill/>
        </p:spPr>
        <p:txBody>
          <a:bodyPr wrap="square" rtlCol="0">
            <a:spAutoFit/>
          </a:bodyPr>
          <a:lstStyle/>
          <a:p>
            <a:pPr algn="l"/>
            <a:r>
              <a:rPr lang="en-US" sz="3200" b="0" i="0" dirty="0">
                <a:solidFill>
                  <a:srgbClr val="FFFF00"/>
                </a:solidFill>
                <a:effectLst/>
                <a:latin typeface="DeepSeek-CJK-patch"/>
              </a:rPr>
              <a:t>Summary</a:t>
            </a:r>
            <a:r>
              <a:rPr lang="en-US" sz="3200" dirty="0">
                <a:solidFill>
                  <a:srgbClr val="FFFF00"/>
                </a:solidFill>
                <a:latin typeface="DeepSeek-CJK-patch"/>
              </a:rPr>
              <a:t> : </a:t>
            </a:r>
            <a:r>
              <a:rPr lang="en-US" sz="3200" b="0" i="0" dirty="0">
                <a:solidFill>
                  <a:srgbClr val="F8FAFF"/>
                </a:solidFill>
                <a:effectLst/>
                <a:latin typeface="DeepSeek-CJK-patch"/>
              </a:rPr>
              <a:t>The Textile Management System (TMS) modernizes textile operations by centralizing fragmented processes like inventory control, production workflows, and supply chain coordination into an integrated digital platform, developed through iterative prototyping and testing.</a:t>
            </a:r>
          </a:p>
          <a:p>
            <a:pPr algn="l"/>
            <a:endParaRPr lang="en-US" sz="3200" b="0" i="0" dirty="0">
              <a:solidFill>
                <a:srgbClr val="F8FAFF"/>
              </a:solidFill>
              <a:effectLst/>
              <a:latin typeface="DeepSeek-CJK-patch"/>
            </a:endParaRPr>
          </a:p>
          <a:p>
            <a:pPr algn="l"/>
            <a:r>
              <a:rPr lang="en-US" sz="3200" b="0" i="0" dirty="0">
                <a:solidFill>
                  <a:srgbClr val="F8FAFF"/>
                </a:solidFill>
                <a:effectLst/>
                <a:latin typeface="DeepSeek-CJK-patch"/>
              </a:rPr>
              <a:t>Simulated results highlight its transformative impact, achieving a 40% reduction in inventory discrepancies, 35% faster production turnaround, and enhanced transparency, positioning the industry for cost-effective, sustainable growth in a technology-driven market</a:t>
            </a:r>
          </a:p>
          <a:p>
            <a:endParaRPr lang="en-US" sz="3200" dirty="0">
              <a:solidFill>
                <a:srgbClr val="FFFF00"/>
              </a:solidFill>
            </a:endParaRPr>
          </a:p>
        </p:txBody>
      </p:sp>
    </p:spTree>
    <p:extLst>
      <p:ext uri="{BB962C8B-B14F-4D97-AF65-F5344CB8AC3E}">
        <p14:creationId xmlns:p14="http://schemas.microsoft.com/office/powerpoint/2010/main" val="1962830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A57761-DF1B-4957-85A8-D91873460BC3}"/>
              </a:ext>
            </a:extLst>
          </p:cNvPr>
          <p:cNvSpPr txBox="1"/>
          <p:nvPr/>
        </p:nvSpPr>
        <p:spPr>
          <a:xfrm>
            <a:off x="5943600" y="197232"/>
            <a:ext cx="2743200" cy="727927"/>
          </a:xfrm>
          <a:prstGeom prst="rect">
            <a:avLst/>
          </a:prstGeom>
          <a:noFill/>
        </p:spPr>
        <p:txBody>
          <a:bodyPr wrap="square">
            <a:spAutoFit/>
          </a:bodyPr>
          <a:lstStyle/>
          <a:p>
            <a:r>
              <a:rPr lang="en-US" sz="4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Conclusions</a:t>
            </a:r>
            <a:endParaRPr lang="en-US" sz="4000" dirty="0">
              <a:solidFill>
                <a:srgbClr val="FFFF00"/>
              </a:solidFill>
            </a:endParaRPr>
          </a:p>
        </p:txBody>
      </p:sp>
      <p:sp>
        <p:nvSpPr>
          <p:cNvPr id="4" name="TextBox 3">
            <a:extLst>
              <a:ext uri="{FF2B5EF4-FFF2-40B4-BE49-F238E27FC236}">
                <a16:creationId xmlns:a16="http://schemas.microsoft.com/office/drawing/2014/main" id="{5D7E8264-F821-483D-831E-970F207F74A1}"/>
              </a:ext>
            </a:extLst>
          </p:cNvPr>
          <p:cNvSpPr txBox="1"/>
          <p:nvPr/>
        </p:nvSpPr>
        <p:spPr>
          <a:xfrm>
            <a:off x="656215" y="1882588"/>
            <a:ext cx="13619183" cy="4524315"/>
          </a:xfrm>
          <a:prstGeom prst="rect">
            <a:avLst/>
          </a:prstGeom>
          <a:noFill/>
        </p:spPr>
        <p:txBody>
          <a:bodyPr wrap="square" rtlCol="0">
            <a:spAutoFit/>
          </a:bodyPr>
          <a:lstStyle/>
          <a:p>
            <a:pPr algn="l"/>
            <a:r>
              <a:rPr lang="en-US" sz="32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Limitations : </a:t>
            </a:r>
          </a:p>
          <a:p>
            <a:pPr algn="l"/>
            <a:r>
              <a:rPr lang="en-US" sz="3200" b="0" i="0" dirty="0">
                <a:solidFill>
                  <a:srgbClr val="F8FAFF"/>
                </a:solidFill>
                <a:effectLst/>
                <a:latin typeface="DeepSeek-CJK-patch"/>
              </a:rPr>
              <a:t>The TMS's validation in a simulated environment and untested scalability in large-scale operations may limit its real-world applicability, particularly under dynamic demand or supply chain disruptions.</a:t>
            </a:r>
          </a:p>
          <a:p>
            <a:pPr algn="l"/>
            <a:endParaRPr lang="en-US" sz="3200" b="0" i="0" dirty="0">
              <a:solidFill>
                <a:srgbClr val="F8FAFF"/>
              </a:solidFill>
              <a:effectLst/>
              <a:latin typeface="DeepSeek-CJK-patch"/>
            </a:endParaRPr>
          </a:p>
          <a:p>
            <a:pPr algn="l"/>
            <a:r>
              <a:rPr lang="en-US" sz="3200" b="0" i="0" dirty="0">
                <a:solidFill>
                  <a:srgbClr val="F8FAFF"/>
                </a:solidFill>
                <a:effectLst/>
                <a:latin typeface="DeepSeek-CJK-patch"/>
              </a:rPr>
              <a:t>Reliance on manual scheduling, incompatibility with legacy systems, and assumptions of workforce digital literacy pose adoption challenges, necessitating further refinement and training programs.</a:t>
            </a:r>
          </a:p>
          <a:p>
            <a:endParaRPr lang="en-US" sz="3200" dirty="0">
              <a:solidFill>
                <a:srgbClr val="FFFF00"/>
              </a:solidFill>
            </a:endParaRPr>
          </a:p>
        </p:txBody>
      </p:sp>
    </p:spTree>
    <p:extLst>
      <p:ext uri="{BB962C8B-B14F-4D97-AF65-F5344CB8AC3E}">
        <p14:creationId xmlns:p14="http://schemas.microsoft.com/office/powerpoint/2010/main" val="2152427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DD8D09-2C09-419C-B1E0-73E8CE689ED7}"/>
              </a:ext>
            </a:extLst>
          </p:cNvPr>
          <p:cNvSpPr txBox="1"/>
          <p:nvPr/>
        </p:nvSpPr>
        <p:spPr>
          <a:xfrm>
            <a:off x="5868296" y="0"/>
            <a:ext cx="2893807" cy="707886"/>
          </a:xfrm>
          <a:prstGeom prst="rect">
            <a:avLst/>
          </a:prstGeom>
          <a:noFill/>
        </p:spPr>
        <p:txBody>
          <a:bodyPr wrap="square">
            <a:spAutoFit/>
          </a:bodyPr>
          <a:lstStyle/>
          <a:p>
            <a:r>
              <a:rPr lang="en-US" sz="40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Conclusions</a:t>
            </a:r>
            <a:endParaRPr lang="en-US" sz="4000" dirty="0">
              <a:solidFill>
                <a:srgbClr val="FFFF00"/>
              </a:solidFill>
            </a:endParaRPr>
          </a:p>
        </p:txBody>
      </p:sp>
      <p:sp>
        <p:nvSpPr>
          <p:cNvPr id="4" name="TextBox 3">
            <a:extLst>
              <a:ext uri="{FF2B5EF4-FFF2-40B4-BE49-F238E27FC236}">
                <a16:creationId xmlns:a16="http://schemas.microsoft.com/office/drawing/2014/main" id="{3E69BB0E-D10E-41A3-8941-08EA47DAE048}"/>
              </a:ext>
            </a:extLst>
          </p:cNvPr>
          <p:cNvSpPr txBox="1"/>
          <p:nvPr/>
        </p:nvSpPr>
        <p:spPr>
          <a:xfrm>
            <a:off x="380716" y="1424864"/>
            <a:ext cx="13725577" cy="4524315"/>
          </a:xfrm>
          <a:prstGeom prst="rect">
            <a:avLst/>
          </a:prstGeom>
          <a:noFill/>
        </p:spPr>
        <p:txBody>
          <a:bodyPr wrap="square" rtlCol="0">
            <a:spAutoFit/>
          </a:bodyPr>
          <a:lstStyle/>
          <a:p>
            <a:pPr algn="l"/>
            <a:r>
              <a:rPr lang="en-US" sz="3200" dirty="0">
                <a:solidFill>
                  <a:srgbClr val="FFFF00"/>
                </a:solidFill>
                <a:effectLst/>
                <a:latin typeface="Times New Roman" panose="02020603050405020304" pitchFamily="18" charset="0"/>
                <a:ea typeface="Times New Roman" panose="02020603050405020304" pitchFamily="18" charset="0"/>
                <a:cs typeface="Vrinda" panose="020B0502040204020203" pitchFamily="34" charset="0"/>
              </a:rPr>
              <a:t>Future Improvement : </a:t>
            </a:r>
            <a:r>
              <a:rPr lang="en-US" sz="3200" b="0" i="0" dirty="0">
                <a:solidFill>
                  <a:srgbClr val="F8FAFF"/>
                </a:solidFill>
                <a:effectLst/>
                <a:latin typeface="DeepSeek-CJK-patch"/>
              </a:rPr>
              <a:t>Future enhancements for the TMS include AI-driven predictive analytics, IoT sensors for real-time monitoring, and blockchain integration to automate scheduling, improve data accuracy, and ensure supply chain transparency.</a:t>
            </a:r>
          </a:p>
          <a:p>
            <a:pPr algn="l"/>
            <a:endParaRPr lang="en-US" sz="3200" b="0" i="0" dirty="0">
              <a:solidFill>
                <a:srgbClr val="F8FAFF"/>
              </a:solidFill>
              <a:effectLst/>
              <a:latin typeface="DeepSeek-CJK-patch"/>
            </a:endParaRPr>
          </a:p>
          <a:p>
            <a:pPr algn="l"/>
            <a:r>
              <a:rPr lang="en-US" sz="3200" b="0" i="0" dirty="0">
                <a:solidFill>
                  <a:srgbClr val="F8FAFF"/>
                </a:solidFill>
                <a:effectLst/>
                <a:latin typeface="DeepSeek-CJK-patch"/>
              </a:rPr>
              <a:t>Expanding mobile accessibility, sustainability modules for carbon tracking, and tailored training programs will further support real-world deployment, user adoption, and alignment with global environmental standards</a:t>
            </a:r>
          </a:p>
          <a:p>
            <a:endParaRPr lang="en-US" sz="3200" dirty="0">
              <a:solidFill>
                <a:srgbClr val="FFFF00"/>
              </a:solidFill>
            </a:endParaRPr>
          </a:p>
        </p:txBody>
      </p:sp>
    </p:spTree>
    <p:extLst>
      <p:ext uri="{BB962C8B-B14F-4D97-AF65-F5344CB8AC3E}">
        <p14:creationId xmlns:p14="http://schemas.microsoft.com/office/powerpoint/2010/main" val="3341837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9980B3B-76FE-459E-B480-F3C8ED179A8D}"/>
              </a:ext>
            </a:extLst>
          </p:cNvPr>
          <p:cNvSpPr/>
          <p:nvPr/>
        </p:nvSpPr>
        <p:spPr>
          <a:xfrm>
            <a:off x="4861368" y="3831220"/>
            <a:ext cx="6690166" cy="4045352"/>
          </a:xfrm>
          <a:prstGeom prst="rect">
            <a:avLst/>
          </a:prstGeom>
          <a:noFill/>
          <a:ln/>
        </p:spPr>
        <p:txBody>
          <a:bodyPr wrap="square" lIns="0" tIns="0" rIns="0" bIns="0" rtlCol="0" anchor="t"/>
          <a:lstStyle/>
          <a:p>
            <a:pPr marL="0" indent="0">
              <a:lnSpc>
                <a:spcPts val="5400"/>
              </a:lnSpc>
              <a:buNone/>
            </a:pPr>
            <a:r>
              <a:rPr lang="en-US" sz="9600" b="1" dirty="0">
                <a:solidFill>
                  <a:srgbClr val="FFE14D"/>
                </a:solidFill>
                <a:latin typeface="Comfortaa Bold" pitchFamily="34" charset="0"/>
                <a:ea typeface="Comfortaa Bold" pitchFamily="34" charset="-122"/>
                <a:cs typeface="Comfortaa Bold" pitchFamily="34" charset="-120"/>
              </a:rPr>
              <a:t>Thank You</a:t>
            </a:r>
            <a:endParaRPr lang="en-US" sz="9600" dirty="0"/>
          </a:p>
        </p:txBody>
      </p:sp>
    </p:spTree>
    <p:extLst>
      <p:ext uri="{BB962C8B-B14F-4D97-AF65-F5344CB8AC3E}">
        <p14:creationId xmlns:p14="http://schemas.microsoft.com/office/powerpoint/2010/main" val="663020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TotalTime>
  <Words>1467</Words>
  <Application>Microsoft Office PowerPoint</Application>
  <PresentationFormat>Custom</PresentationFormat>
  <Paragraphs>91</Paragraphs>
  <Slides>27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Times New Roman</vt:lpstr>
      <vt:lpstr>DeepSeek-CJK-patch</vt:lpstr>
      <vt:lpstr>Arial</vt:lpstr>
      <vt:lpstr>Comfortaa Bold</vt:lpstr>
      <vt:lpstr>Raleway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Rd Ahmed</cp:lastModifiedBy>
  <cp:revision>15</cp:revision>
  <dcterms:created xsi:type="dcterms:W3CDTF">2025-02-09T23:33:31Z</dcterms:created>
  <dcterms:modified xsi:type="dcterms:W3CDTF">2025-04-14T23:32:10Z</dcterms:modified>
</cp:coreProperties>
</file>